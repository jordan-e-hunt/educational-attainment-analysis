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Play"/>
      <p:regular r:id="rId19"/>
      <p:bold r:id="rId20"/>
    </p:embeddedFont>
    <p:embeddedFont>
      <p:font typeface="DM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hoyY+1bYC09rhB59Qmq/oJ4tda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22" Type="http://schemas.openxmlformats.org/officeDocument/2006/relationships/font" Target="fonts/DMSans-bold.fntdata"/><Relationship Id="rId21" Type="http://schemas.openxmlformats.org/officeDocument/2006/relationships/font" Target="fonts/DMSans-regular.fntdata"/><Relationship Id="rId24" Type="http://schemas.openxmlformats.org/officeDocument/2006/relationships/font" Target="fonts/DMSans-boldItalic.fntdata"/><Relationship Id="rId23"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4.png"/><Relationship Id="rId11" Type="http://schemas.openxmlformats.org/officeDocument/2006/relationships/image" Target="../media/image8.png"/><Relationship Id="rId10" Type="http://schemas.openxmlformats.org/officeDocument/2006/relationships/image" Target="../media/image7.png"/><Relationship Id="rId12" Type="http://schemas.openxmlformats.org/officeDocument/2006/relationships/image" Target="../media/image2.png"/><Relationship Id="rId9"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6.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hyperlink" Target="https://www.census.gov/topics/education/educational-attainment/data/tables.2022.List_2016040495.html#list-tab-List_201604049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govtrack.us/congress/bills/subjects/education/5991#text=college&amp;congress=112&amp;enacted_ex=on" TargetMode="External"/><Relationship Id="rId4" Type="http://schemas.openxmlformats.org/officeDocument/2006/relationships/hyperlink" Target="https://www.govtrack.us/congress/bills/114/s1177/summar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hyperlink" Target="https://nces.ed.gov/programs/digest/d23/tables/dt23_104.70.as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hyperlink" Target="https://nces.ed.gov/programs/digest/d17/tables/dt17_331.35.asp?referer=raceindicator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3" l="0" r="0" t="-38885"/>
            </a:stretch>
          </a:blipFill>
          <a:ln>
            <a:noFill/>
          </a:ln>
        </p:spPr>
      </p:sp>
      <p:grpSp>
        <p:nvGrpSpPr>
          <p:cNvPr id="85" name="Google Shape;85;p1"/>
          <p:cNvGrpSpPr/>
          <p:nvPr/>
        </p:nvGrpSpPr>
        <p:grpSpPr>
          <a:xfrm>
            <a:off x="2810691" y="1734149"/>
            <a:ext cx="13046726" cy="6647199"/>
            <a:chOff x="0" y="-38100"/>
            <a:chExt cx="2898371" cy="1476696"/>
          </a:xfrm>
        </p:grpSpPr>
        <p:sp>
          <p:nvSpPr>
            <p:cNvPr id="86" name="Google Shape;86;p1"/>
            <p:cNvSpPr/>
            <p:nvPr/>
          </p:nvSpPr>
          <p:spPr>
            <a:xfrm>
              <a:off x="0" y="0"/>
              <a:ext cx="2898371" cy="1438596"/>
            </a:xfrm>
            <a:custGeom>
              <a:rect b="b" l="l" r="r" t="t"/>
              <a:pathLst>
                <a:path extrusionOk="0" h="1438596" w="2898371">
                  <a:moveTo>
                    <a:pt x="30263" y="0"/>
                  </a:moveTo>
                  <a:lnTo>
                    <a:pt x="2868107" y="0"/>
                  </a:lnTo>
                  <a:cubicBezTo>
                    <a:pt x="2876134" y="0"/>
                    <a:pt x="2883831" y="3188"/>
                    <a:pt x="2889507" y="8864"/>
                  </a:cubicBezTo>
                  <a:cubicBezTo>
                    <a:pt x="2895182" y="14539"/>
                    <a:pt x="2898371" y="22237"/>
                    <a:pt x="2898371" y="30263"/>
                  </a:cubicBezTo>
                  <a:lnTo>
                    <a:pt x="2898371" y="1408333"/>
                  </a:lnTo>
                  <a:cubicBezTo>
                    <a:pt x="2898371" y="1416359"/>
                    <a:pt x="2895182" y="1424057"/>
                    <a:pt x="2889507" y="1429732"/>
                  </a:cubicBezTo>
                  <a:cubicBezTo>
                    <a:pt x="2883831" y="1435408"/>
                    <a:pt x="2876134" y="1438596"/>
                    <a:pt x="2868107" y="1438596"/>
                  </a:cubicBezTo>
                  <a:lnTo>
                    <a:pt x="30263" y="1438596"/>
                  </a:lnTo>
                  <a:cubicBezTo>
                    <a:pt x="22237" y="1438596"/>
                    <a:pt x="14539" y="1435408"/>
                    <a:pt x="8864" y="1429732"/>
                  </a:cubicBezTo>
                  <a:cubicBezTo>
                    <a:pt x="3188" y="1424057"/>
                    <a:pt x="0" y="1416359"/>
                    <a:pt x="0" y="1408333"/>
                  </a:cubicBezTo>
                  <a:lnTo>
                    <a:pt x="0" y="30263"/>
                  </a:lnTo>
                  <a:cubicBezTo>
                    <a:pt x="0" y="22237"/>
                    <a:pt x="3188" y="14539"/>
                    <a:pt x="8864" y="8864"/>
                  </a:cubicBezTo>
                  <a:cubicBezTo>
                    <a:pt x="14539" y="3188"/>
                    <a:pt x="22237" y="0"/>
                    <a:pt x="30263" y="0"/>
                  </a:cubicBezTo>
                  <a:close/>
                </a:path>
              </a:pathLst>
            </a:custGeom>
            <a:solidFill>
              <a:srgbClr val="9CD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txBox="1"/>
            <p:nvPr/>
          </p:nvSpPr>
          <p:spPr>
            <a:xfrm>
              <a:off x="0" y="-38100"/>
              <a:ext cx="2898371" cy="147669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p:nvPr/>
        </p:nvSpPr>
        <p:spPr>
          <a:xfrm rot="455622">
            <a:off x="-78116" y="6450142"/>
            <a:ext cx="5940675" cy="4547317"/>
          </a:xfrm>
          <a:custGeom>
            <a:rect b="b" l="l" r="r" t="t"/>
            <a:pathLst>
              <a:path extrusionOk="0" h="4547317" w="5940675">
                <a:moveTo>
                  <a:pt x="0" y="0"/>
                </a:moveTo>
                <a:lnTo>
                  <a:pt x="5940675" y="0"/>
                </a:lnTo>
                <a:lnTo>
                  <a:pt x="5940675" y="4547317"/>
                </a:lnTo>
                <a:lnTo>
                  <a:pt x="0" y="4547317"/>
                </a:lnTo>
                <a:lnTo>
                  <a:pt x="0" y="0"/>
                </a:lnTo>
                <a:close/>
              </a:path>
            </a:pathLst>
          </a:custGeom>
          <a:blipFill rotWithShape="1">
            <a:blip r:embed="rId4">
              <a:alphaModFix/>
            </a:blip>
            <a:stretch>
              <a:fillRect b="0" l="0" r="0" t="0"/>
            </a:stretch>
          </a:blipFill>
          <a:ln>
            <a:noFill/>
          </a:ln>
        </p:spPr>
      </p:sp>
      <p:sp>
        <p:nvSpPr>
          <p:cNvPr id="89" name="Google Shape;89;p1"/>
          <p:cNvSpPr/>
          <p:nvPr/>
        </p:nvSpPr>
        <p:spPr>
          <a:xfrm rot="-1286244">
            <a:off x="14929291" y="4686673"/>
            <a:ext cx="3600973" cy="3489670"/>
          </a:xfrm>
          <a:custGeom>
            <a:rect b="b" l="l" r="r" t="t"/>
            <a:pathLst>
              <a:path extrusionOk="0" h="3489670" w="3600973">
                <a:moveTo>
                  <a:pt x="0" y="0"/>
                </a:moveTo>
                <a:lnTo>
                  <a:pt x="3600973" y="0"/>
                </a:lnTo>
                <a:lnTo>
                  <a:pt x="3600973" y="3489670"/>
                </a:lnTo>
                <a:lnTo>
                  <a:pt x="0" y="3489670"/>
                </a:lnTo>
                <a:lnTo>
                  <a:pt x="0" y="0"/>
                </a:lnTo>
                <a:close/>
              </a:path>
            </a:pathLst>
          </a:custGeom>
          <a:blipFill rotWithShape="1">
            <a:blip r:embed="rId5">
              <a:alphaModFix/>
            </a:blip>
            <a:stretch>
              <a:fillRect b="0" l="0" r="0" t="0"/>
            </a:stretch>
          </a:blipFill>
          <a:ln>
            <a:noFill/>
          </a:ln>
        </p:spPr>
      </p:sp>
      <p:sp>
        <p:nvSpPr>
          <p:cNvPr id="90" name="Google Shape;90;p1"/>
          <p:cNvSpPr/>
          <p:nvPr/>
        </p:nvSpPr>
        <p:spPr>
          <a:xfrm>
            <a:off x="2810691" y="419533"/>
            <a:ext cx="3509485" cy="1756919"/>
          </a:xfrm>
          <a:custGeom>
            <a:rect b="b" l="l" r="r" t="t"/>
            <a:pathLst>
              <a:path extrusionOk="0" h="1756919" w="3509485">
                <a:moveTo>
                  <a:pt x="0" y="0"/>
                </a:moveTo>
                <a:lnTo>
                  <a:pt x="3509485" y="0"/>
                </a:lnTo>
                <a:lnTo>
                  <a:pt x="3509485" y="1756919"/>
                </a:lnTo>
                <a:lnTo>
                  <a:pt x="0" y="1756919"/>
                </a:lnTo>
                <a:lnTo>
                  <a:pt x="0" y="0"/>
                </a:lnTo>
                <a:close/>
              </a:path>
            </a:pathLst>
          </a:custGeom>
          <a:blipFill rotWithShape="1">
            <a:blip r:embed="rId6">
              <a:alphaModFix/>
            </a:blip>
            <a:stretch>
              <a:fillRect b="-328632" l="-32049" r="-126187" t="0"/>
            </a:stretch>
          </a:blipFill>
          <a:ln>
            <a:noFill/>
          </a:ln>
        </p:spPr>
      </p:sp>
      <p:sp>
        <p:nvSpPr>
          <p:cNvPr id="91" name="Google Shape;91;p1"/>
          <p:cNvSpPr/>
          <p:nvPr/>
        </p:nvSpPr>
        <p:spPr>
          <a:xfrm>
            <a:off x="7618778" y="8981296"/>
            <a:ext cx="1525222" cy="763557"/>
          </a:xfrm>
          <a:custGeom>
            <a:rect b="b" l="l" r="r" t="t"/>
            <a:pathLst>
              <a:path extrusionOk="0" h="763557" w="1525222">
                <a:moveTo>
                  <a:pt x="0" y="0"/>
                </a:moveTo>
                <a:lnTo>
                  <a:pt x="1525222" y="0"/>
                </a:lnTo>
                <a:lnTo>
                  <a:pt x="1525222" y="763556"/>
                </a:lnTo>
                <a:lnTo>
                  <a:pt x="0" y="763556"/>
                </a:lnTo>
                <a:lnTo>
                  <a:pt x="0" y="0"/>
                </a:lnTo>
                <a:close/>
              </a:path>
            </a:pathLst>
          </a:custGeom>
          <a:blipFill rotWithShape="1">
            <a:blip r:embed="rId6">
              <a:alphaModFix/>
            </a:blip>
            <a:stretch>
              <a:fillRect b="-328632" l="-32049" r="-126187" t="0"/>
            </a:stretch>
          </a:blipFill>
          <a:ln>
            <a:noFill/>
          </a:ln>
        </p:spPr>
      </p:sp>
      <p:sp>
        <p:nvSpPr>
          <p:cNvPr id="92" name="Google Shape;92;p1"/>
          <p:cNvSpPr/>
          <p:nvPr/>
        </p:nvSpPr>
        <p:spPr>
          <a:xfrm>
            <a:off x="14416144" y="-1731509"/>
            <a:ext cx="3403548" cy="3463018"/>
          </a:xfrm>
          <a:custGeom>
            <a:rect b="b" l="l" r="r" t="t"/>
            <a:pathLst>
              <a:path extrusionOk="0" h="3463018" w="3403548">
                <a:moveTo>
                  <a:pt x="0" y="0"/>
                </a:moveTo>
                <a:lnTo>
                  <a:pt x="3403548" y="0"/>
                </a:lnTo>
                <a:lnTo>
                  <a:pt x="3403548" y="3463018"/>
                </a:lnTo>
                <a:lnTo>
                  <a:pt x="0" y="3463018"/>
                </a:lnTo>
                <a:lnTo>
                  <a:pt x="0" y="0"/>
                </a:lnTo>
                <a:close/>
              </a:path>
            </a:pathLst>
          </a:custGeom>
          <a:blipFill rotWithShape="1">
            <a:blip r:embed="rId7">
              <a:alphaModFix/>
            </a:blip>
            <a:stretch>
              <a:fillRect b="-243361" l="-367792" r="0" t="-44521"/>
            </a:stretch>
          </a:blipFill>
          <a:ln>
            <a:noFill/>
          </a:ln>
        </p:spPr>
      </p:sp>
      <p:sp>
        <p:nvSpPr>
          <p:cNvPr id="93" name="Google Shape;93;p1"/>
          <p:cNvSpPr/>
          <p:nvPr/>
        </p:nvSpPr>
        <p:spPr>
          <a:xfrm>
            <a:off x="916983" y="1297992"/>
            <a:ext cx="1123101" cy="1274529"/>
          </a:xfrm>
          <a:custGeom>
            <a:rect b="b" l="l" r="r" t="t"/>
            <a:pathLst>
              <a:path extrusionOk="0" h="1274529" w="1123101">
                <a:moveTo>
                  <a:pt x="0" y="0"/>
                </a:moveTo>
                <a:lnTo>
                  <a:pt x="1123100" y="0"/>
                </a:lnTo>
                <a:lnTo>
                  <a:pt x="1123100" y="1274529"/>
                </a:lnTo>
                <a:lnTo>
                  <a:pt x="0" y="1274529"/>
                </a:lnTo>
                <a:lnTo>
                  <a:pt x="0" y="0"/>
                </a:lnTo>
                <a:close/>
              </a:path>
            </a:pathLst>
          </a:custGeom>
          <a:blipFill rotWithShape="1">
            <a:blip r:embed="rId7">
              <a:alphaModFix/>
            </a:blip>
            <a:stretch>
              <a:fillRect b="-259904" l="-446956" r="0" t="-46666"/>
            </a:stretch>
          </a:blipFill>
          <a:ln>
            <a:noFill/>
          </a:ln>
        </p:spPr>
      </p:sp>
      <p:sp>
        <p:nvSpPr>
          <p:cNvPr id="94" name="Google Shape;94;p1"/>
          <p:cNvSpPr/>
          <p:nvPr/>
        </p:nvSpPr>
        <p:spPr>
          <a:xfrm>
            <a:off x="-1947967" y="3126933"/>
            <a:ext cx="3988051" cy="2610360"/>
          </a:xfrm>
          <a:custGeom>
            <a:rect b="b" l="l" r="r" t="t"/>
            <a:pathLst>
              <a:path extrusionOk="0" h="2610360" w="3988051">
                <a:moveTo>
                  <a:pt x="0" y="0"/>
                </a:moveTo>
                <a:lnTo>
                  <a:pt x="3988050" y="0"/>
                </a:lnTo>
                <a:lnTo>
                  <a:pt x="3988050" y="2610360"/>
                </a:lnTo>
                <a:lnTo>
                  <a:pt x="0" y="2610360"/>
                </a:lnTo>
                <a:lnTo>
                  <a:pt x="0" y="0"/>
                </a:lnTo>
                <a:close/>
              </a:path>
            </a:pathLst>
          </a:custGeom>
          <a:blipFill rotWithShape="1">
            <a:blip r:embed="rId8">
              <a:alphaModFix/>
            </a:blip>
            <a:stretch>
              <a:fillRect b="-149599" l="-21938" r="-225524" t="-213685"/>
            </a:stretch>
          </a:blipFill>
          <a:ln>
            <a:noFill/>
          </a:ln>
        </p:spPr>
      </p:sp>
      <p:sp>
        <p:nvSpPr>
          <p:cNvPr id="95" name="Google Shape;95;p1"/>
          <p:cNvSpPr/>
          <p:nvPr/>
        </p:nvSpPr>
        <p:spPr>
          <a:xfrm>
            <a:off x="16343291" y="2376477"/>
            <a:ext cx="2267732" cy="1484333"/>
          </a:xfrm>
          <a:custGeom>
            <a:rect b="b" l="l" r="r" t="t"/>
            <a:pathLst>
              <a:path extrusionOk="0" h="1484333" w="2267732">
                <a:moveTo>
                  <a:pt x="0" y="0"/>
                </a:moveTo>
                <a:lnTo>
                  <a:pt x="2267731" y="0"/>
                </a:lnTo>
                <a:lnTo>
                  <a:pt x="2267731" y="1484333"/>
                </a:lnTo>
                <a:lnTo>
                  <a:pt x="0" y="1484333"/>
                </a:lnTo>
                <a:lnTo>
                  <a:pt x="0" y="0"/>
                </a:lnTo>
                <a:close/>
              </a:path>
            </a:pathLst>
          </a:custGeom>
          <a:blipFill rotWithShape="1">
            <a:blip r:embed="rId8">
              <a:alphaModFix/>
            </a:blip>
            <a:stretch>
              <a:fillRect b="-149599" l="-21938" r="-225524" t="-213685"/>
            </a:stretch>
          </a:blipFill>
          <a:ln>
            <a:noFill/>
          </a:ln>
        </p:spPr>
      </p:sp>
      <p:sp>
        <p:nvSpPr>
          <p:cNvPr id="96" name="Google Shape;96;p1"/>
          <p:cNvSpPr/>
          <p:nvPr/>
        </p:nvSpPr>
        <p:spPr>
          <a:xfrm rot="10800000">
            <a:off x="8381389" y="186456"/>
            <a:ext cx="1705258" cy="1276645"/>
          </a:xfrm>
          <a:custGeom>
            <a:rect b="b" l="l" r="r" t="t"/>
            <a:pathLst>
              <a:path extrusionOk="0" h="1276645" w="1705258">
                <a:moveTo>
                  <a:pt x="0" y="0"/>
                </a:moveTo>
                <a:lnTo>
                  <a:pt x="1705258" y="0"/>
                </a:lnTo>
                <a:lnTo>
                  <a:pt x="1705258" y="1276645"/>
                </a:lnTo>
                <a:lnTo>
                  <a:pt x="0" y="1276645"/>
                </a:lnTo>
                <a:lnTo>
                  <a:pt x="0" y="0"/>
                </a:lnTo>
                <a:close/>
              </a:path>
            </a:pathLst>
          </a:custGeom>
          <a:blipFill rotWithShape="1">
            <a:blip r:embed="rId9">
              <a:alphaModFix/>
            </a:blip>
            <a:stretch>
              <a:fillRect b="-187637" l="-185388" r="0" t="0"/>
            </a:stretch>
          </a:blipFill>
          <a:ln>
            <a:noFill/>
          </a:ln>
        </p:spPr>
      </p:sp>
      <p:sp>
        <p:nvSpPr>
          <p:cNvPr id="97" name="Google Shape;97;p1"/>
          <p:cNvSpPr/>
          <p:nvPr/>
        </p:nvSpPr>
        <p:spPr>
          <a:xfrm>
            <a:off x="15427281" y="8028219"/>
            <a:ext cx="1832019" cy="1647908"/>
          </a:xfrm>
          <a:custGeom>
            <a:rect b="b" l="l" r="r" t="t"/>
            <a:pathLst>
              <a:path extrusionOk="0" h="1647908" w="1832019">
                <a:moveTo>
                  <a:pt x="0" y="0"/>
                </a:moveTo>
                <a:lnTo>
                  <a:pt x="1832019" y="0"/>
                </a:lnTo>
                <a:lnTo>
                  <a:pt x="1832019" y="1647908"/>
                </a:lnTo>
                <a:lnTo>
                  <a:pt x="0" y="1647908"/>
                </a:lnTo>
                <a:lnTo>
                  <a:pt x="0" y="0"/>
                </a:lnTo>
                <a:close/>
              </a:path>
            </a:pathLst>
          </a:custGeom>
          <a:blipFill rotWithShape="1">
            <a:blip r:embed="rId10">
              <a:alphaModFix/>
            </a:blip>
            <a:stretch>
              <a:fillRect b="-126603" l="-25215" r="-600000" t="-283522"/>
            </a:stretch>
          </a:blipFill>
          <a:ln>
            <a:noFill/>
          </a:ln>
        </p:spPr>
      </p:sp>
      <p:sp>
        <p:nvSpPr>
          <p:cNvPr id="98" name="Google Shape;98;p1"/>
          <p:cNvSpPr/>
          <p:nvPr/>
        </p:nvSpPr>
        <p:spPr>
          <a:xfrm>
            <a:off x="7091701" y="1240955"/>
            <a:ext cx="3885549" cy="906628"/>
          </a:xfrm>
          <a:custGeom>
            <a:rect b="b" l="l" r="r" t="t"/>
            <a:pathLst>
              <a:path extrusionOk="0" h="906628" w="3885549">
                <a:moveTo>
                  <a:pt x="0" y="0"/>
                </a:moveTo>
                <a:lnTo>
                  <a:pt x="3885549" y="0"/>
                </a:lnTo>
                <a:lnTo>
                  <a:pt x="3885549" y="906628"/>
                </a:lnTo>
                <a:lnTo>
                  <a:pt x="0" y="906628"/>
                </a:lnTo>
                <a:lnTo>
                  <a:pt x="0" y="0"/>
                </a:lnTo>
                <a:close/>
              </a:path>
            </a:pathLst>
          </a:custGeom>
          <a:blipFill rotWithShape="1">
            <a:blip r:embed="rId11">
              <a:alphaModFix/>
            </a:blip>
            <a:stretch>
              <a:fillRect b="-2137337" l="-240720" r="-96897" t="-90409"/>
            </a:stretch>
          </a:blipFill>
          <a:ln>
            <a:noFill/>
          </a:ln>
        </p:spPr>
      </p:sp>
      <p:sp>
        <p:nvSpPr>
          <p:cNvPr id="99" name="Google Shape;99;p1"/>
          <p:cNvSpPr/>
          <p:nvPr/>
        </p:nvSpPr>
        <p:spPr>
          <a:xfrm rot="-432448">
            <a:off x="11667175" y="7906763"/>
            <a:ext cx="3616123" cy="2912623"/>
          </a:xfrm>
          <a:custGeom>
            <a:rect b="b" l="l" r="r" t="t"/>
            <a:pathLst>
              <a:path extrusionOk="0" h="2912623" w="3616123">
                <a:moveTo>
                  <a:pt x="0" y="0"/>
                </a:moveTo>
                <a:lnTo>
                  <a:pt x="3616123" y="0"/>
                </a:lnTo>
                <a:lnTo>
                  <a:pt x="3616123" y="2912622"/>
                </a:lnTo>
                <a:lnTo>
                  <a:pt x="0" y="2912622"/>
                </a:lnTo>
                <a:lnTo>
                  <a:pt x="0" y="0"/>
                </a:lnTo>
                <a:close/>
              </a:path>
            </a:pathLst>
          </a:custGeom>
          <a:blipFill rotWithShape="1">
            <a:blip r:embed="rId12">
              <a:alphaModFix/>
            </a:blip>
            <a:stretch>
              <a:fillRect b="0" l="0" r="0" t="0"/>
            </a:stretch>
          </a:blipFill>
          <a:ln>
            <a:noFill/>
          </a:ln>
        </p:spPr>
      </p:sp>
      <p:sp>
        <p:nvSpPr>
          <p:cNvPr id="100" name="Google Shape;100;p1"/>
          <p:cNvSpPr txBox="1"/>
          <p:nvPr/>
        </p:nvSpPr>
        <p:spPr>
          <a:xfrm>
            <a:off x="2909121" y="2135282"/>
            <a:ext cx="12250709" cy="5092064"/>
          </a:xfrm>
          <a:prstGeom prst="rect">
            <a:avLst/>
          </a:prstGeom>
          <a:noFill/>
          <a:ln>
            <a:noFill/>
          </a:ln>
        </p:spPr>
        <p:txBody>
          <a:bodyPr anchorCtr="0" anchor="t" bIns="0" lIns="0" spcFirstLastPara="1" rIns="0" wrap="square" tIns="0">
            <a:spAutoFit/>
          </a:bodyPr>
          <a:lstStyle/>
          <a:p>
            <a:pPr indent="0" lvl="0" marL="0" marR="0" rtl="0" algn="ctr">
              <a:lnSpc>
                <a:spcPct val="92999"/>
              </a:lnSpc>
              <a:spcBef>
                <a:spcPts val="0"/>
              </a:spcBef>
              <a:spcAft>
                <a:spcPts val="0"/>
              </a:spcAft>
              <a:buNone/>
            </a:pPr>
            <a:r>
              <a:rPr b="0" i="0" lang="en-US" sz="8499" u="none" cap="none" strike="noStrike">
                <a:solidFill>
                  <a:srgbClr val="FFFFFF"/>
                </a:solidFill>
                <a:latin typeface="Play"/>
                <a:ea typeface="Play"/>
                <a:cs typeface="Play"/>
                <a:sym typeface="Play"/>
              </a:rPr>
              <a:t>BETWEEN HIGH SCHOOL AND COLLEGE: THE UNSPOKEN WAY SIDE</a:t>
            </a:r>
            <a:endParaRPr/>
          </a:p>
          <a:p>
            <a:pPr indent="0" lvl="0" marL="0" marR="0" rtl="0" algn="ctr">
              <a:lnSpc>
                <a:spcPct val="92999"/>
              </a:lnSpc>
              <a:spcBef>
                <a:spcPts val="0"/>
              </a:spcBef>
              <a:spcAft>
                <a:spcPts val="0"/>
              </a:spcAft>
              <a:buNone/>
            </a:pPr>
            <a:r>
              <a:t/>
            </a:r>
            <a:endParaRPr b="0" i="0" sz="8499" u="none" cap="none" strike="noStrike">
              <a:solidFill>
                <a:srgbClr val="FFFFFF"/>
              </a:solidFill>
              <a:latin typeface="Play"/>
              <a:ea typeface="Play"/>
              <a:cs typeface="Play"/>
              <a:sym typeface="Play"/>
            </a:endParaRPr>
          </a:p>
        </p:txBody>
      </p:sp>
      <p:grpSp>
        <p:nvGrpSpPr>
          <p:cNvPr id="101" name="Google Shape;101;p1"/>
          <p:cNvGrpSpPr/>
          <p:nvPr/>
        </p:nvGrpSpPr>
        <p:grpSpPr>
          <a:xfrm>
            <a:off x="12682683" y="901716"/>
            <a:ext cx="792553" cy="792553"/>
            <a:chOff x="0" y="0"/>
            <a:chExt cx="812800" cy="812800"/>
          </a:xfrm>
        </p:grpSpPr>
        <p:sp>
          <p:nvSpPr>
            <p:cNvPr id="102" name="Google Shape;102;p1"/>
            <p:cNvSpPr/>
            <p:nvPr/>
          </p:nvSpPr>
          <p:spPr>
            <a:xfrm>
              <a:off x="0" y="0"/>
              <a:ext cx="812800" cy="812800"/>
            </a:xfrm>
            <a:custGeom>
              <a:rect b="b" l="l" r="r" t="t"/>
              <a:pathLst>
                <a:path extrusionOk="0"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a:ln>
              <a:noFill/>
            </a:ln>
          </p:spPr>
        </p:sp>
        <p:sp>
          <p:nvSpPr>
            <p:cNvPr id="103" name="Google Shape;103;p1"/>
            <p:cNvSpPr txBox="1"/>
            <p:nvPr/>
          </p:nvSpPr>
          <p:spPr>
            <a:xfrm>
              <a:off x="190500" y="152400"/>
              <a:ext cx="431800" cy="469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1"/>
          <p:cNvSpPr txBox="1"/>
          <p:nvPr/>
        </p:nvSpPr>
        <p:spPr>
          <a:xfrm>
            <a:off x="4422964" y="6355308"/>
            <a:ext cx="9993180" cy="13131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800" u="none" cap="none" strike="noStrike">
                <a:solidFill>
                  <a:srgbClr val="FFFFFF"/>
                </a:solidFill>
                <a:latin typeface="DM Sans"/>
                <a:ea typeface="DM Sans"/>
                <a:cs typeface="DM Sans"/>
                <a:sym typeface="DM Sans"/>
              </a:rPr>
              <a:t>Presentation by Jimilia Harris, Takiyah Green, Jordan Hunt, Lemuel Mutah, Lan Dinh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08" name="Shape 108"/>
        <p:cNvGrpSpPr/>
        <p:nvPr/>
      </p:nvGrpSpPr>
      <p:grpSpPr>
        <a:xfrm>
          <a:off x="0" y="0"/>
          <a:ext cx="0" cy="0"/>
          <a:chOff x="0" y="0"/>
          <a:chExt cx="0" cy="0"/>
        </a:xfrm>
      </p:grpSpPr>
      <p:sp>
        <p:nvSpPr>
          <p:cNvPr id="109" name="Google Shape;109;p2"/>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2012 &amp; 2022 Educational Attainment Comparison:</a:t>
            </a:r>
            <a:endParaRPr/>
          </a:p>
        </p:txBody>
      </p:sp>
      <p:sp>
        <p:nvSpPr>
          <p:cNvPr id="110" name="Google Shape;110;p2"/>
          <p:cNvSpPr/>
          <p:nvPr/>
        </p:nvSpPr>
        <p:spPr>
          <a:xfrm>
            <a:off x="760800" y="2304950"/>
            <a:ext cx="7725002" cy="6198752"/>
          </a:xfrm>
          <a:custGeom>
            <a:rect b="b" l="l" r="r" t="t"/>
            <a:pathLst>
              <a:path extrusionOk="0" h="6198752" w="7725002">
                <a:moveTo>
                  <a:pt x="0" y="0"/>
                </a:moveTo>
                <a:lnTo>
                  <a:pt x="7725002" y="0"/>
                </a:lnTo>
                <a:lnTo>
                  <a:pt x="7725002" y="6198752"/>
                </a:lnTo>
                <a:lnTo>
                  <a:pt x="0" y="6198752"/>
                </a:lnTo>
                <a:lnTo>
                  <a:pt x="0" y="0"/>
                </a:lnTo>
                <a:close/>
              </a:path>
            </a:pathLst>
          </a:custGeom>
          <a:blipFill rotWithShape="1">
            <a:blip r:embed="rId3">
              <a:alphaModFix/>
            </a:blip>
            <a:stretch>
              <a:fillRect b="0" l="0" r="0" t="0"/>
            </a:stretch>
          </a:blipFill>
          <a:ln>
            <a:noFill/>
          </a:ln>
        </p:spPr>
      </p:sp>
      <p:sp>
        <p:nvSpPr>
          <p:cNvPr id="111" name="Google Shape;111;p2"/>
          <p:cNvSpPr/>
          <p:nvPr/>
        </p:nvSpPr>
        <p:spPr>
          <a:xfrm>
            <a:off x="9209150" y="2304974"/>
            <a:ext cx="8455438" cy="6832798"/>
          </a:xfrm>
          <a:custGeom>
            <a:rect b="b" l="l" r="r" t="t"/>
            <a:pathLst>
              <a:path extrusionOk="0" h="6832798" w="8455438">
                <a:moveTo>
                  <a:pt x="0" y="0"/>
                </a:moveTo>
                <a:lnTo>
                  <a:pt x="8455438" y="0"/>
                </a:lnTo>
                <a:lnTo>
                  <a:pt x="8455438" y="6832798"/>
                </a:lnTo>
                <a:lnTo>
                  <a:pt x="0" y="6832798"/>
                </a:lnTo>
                <a:lnTo>
                  <a:pt x="0" y="0"/>
                </a:lnTo>
                <a:close/>
              </a:path>
            </a:pathLst>
          </a:custGeom>
          <a:blipFill rotWithShape="1">
            <a:blip r:embed="rId4">
              <a:alphaModFix/>
            </a:blip>
            <a:stretch>
              <a:fillRect b="0" l="0" r="0" t="0"/>
            </a:stretch>
          </a:blipFill>
          <a:ln>
            <a:noFill/>
          </a:ln>
        </p:spPr>
      </p:sp>
      <p:sp>
        <p:nvSpPr>
          <p:cNvPr id="112" name="Google Shape;112;p2"/>
          <p:cNvSpPr txBox="1"/>
          <p:nvPr/>
        </p:nvSpPr>
        <p:spPr>
          <a:xfrm>
            <a:off x="814675" y="9466525"/>
            <a:ext cx="8512350" cy="4191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Data source: </a:t>
            </a:r>
            <a:r>
              <a:rPr b="0" i="0" lang="en-US" sz="2799" u="sng" cap="none" strike="noStrike">
                <a:solidFill>
                  <a:srgbClr val="000000"/>
                </a:solidFill>
                <a:latin typeface="Arial"/>
                <a:ea typeface="Arial"/>
                <a:cs typeface="Arial"/>
                <a:sym typeface="Arial"/>
                <a:hlinkClick r:id="rId5">
                  <a:extLst>
                    <a:ext uri="{A12FA001-AC4F-418D-AE19-62706E023703}">
                      <ahyp:hlinkClr val="tx"/>
                    </a:ext>
                  </a:extLst>
                </a:hlinkClick>
              </a:rPr>
              <a:t>United States Census Bureau</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16" name="Shape 116"/>
        <p:cNvGrpSpPr/>
        <p:nvPr/>
      </p:nvGrpSpPr>
      <p:grpSpPr>
        <a:xfrm>
          <a:off x="0" y="0"/>
          <a:ext cx="0" cy="0"/>
          <a:chOff x="0" y="0"/>
          <a:chExt cx="0" cy="0"/>
        </a:xfrm>
      </p:grpSpPr>
      <p:sp>
        <p:nvSpPr>
          <p:cNvPr id="117" name="Google Shape;117;p3"/>
          <p:cNvSpPr txBox="1"/>
          <p:nvPr/>
        </p:nvSpPr>
        <p:spPr>
          <a:xfrm>
            <a:off x="714825" y="971950"/>
            <a:ext cx="16858350" cy="8382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None/>
            </a:pPr>
            <a:r>
              <a:rPr b="0" i="0" lang="en-US" sz="5439" u="none" cap="none" strike="noStrike">
                <a:solidFill>
                  <a:srgbClr val="000000"/>
                </a:solidFill>
                <a:latin typeface="Play"/>
                <a:ea typeface="Play"/>
                <a:cs typeface="Play"/>
                <a:sym typeface="Play"/>
              </a:rPr>
              <a:t>STRUCTURE</a:t>
            </a:r>
            <a:endParaRPr/>
          </a:p>
        </p:txBody>
      </p:sp>
      <p:grpSp>
        <p:nvGrpSpPr>
          <p:cNvPr id="118" name="Google Shape;118;p3"/>
          <p:cNvGrpSpPr/>
          <p:nvPr/>
        </p:nvGrpSpPr>
        <p:grpSpPr>
          <a:xfrm>
            <a:off x="11264634" y="2372406"/>
            <a:ext cx="6611400" cy="1345216"/>
            <a:chOff x="0" y="-9525"/>
            <a:chExt cx="8815200" cy="1793621"/>
          </a:xfrm>
        </p:grpSpPr>
        <p:sp>
          <p:nvSpPr>
            <p:cNvPr id="119" name="Google Shape;119;p3"/>
            <p:cNvSpPr/>
            <p:nvPr/>
          </p:nvSpPr>
          <p:spPr>
            <a:xfrm>
              <a:off x="0" y="0"/>
              <a:ext cx="8815197" cy="1784096"/>
            </a:xfrm>
            <a:custGeom>
              <a:rect b="b" l="l" r="r" t="t"/>
              <a:pathLst>
                <a:path extrusionOk="0" h="1784096" w="8815197">
                  <a:moveTo>
                    <a:pt x="0" y="0"/>
                  </a:moveTo>
                  <a:lnTo>
                    <a:pt x="7923149" y="0"/>
                  </a:lnTo>
                  <a:lnTo>
                    <a:pt x="8815197" y="892048"/>
                  </a:lnTo>
                  <a:lnTo>
                    <a:pt x="7923149" y="1784096"/>
                  </a:lnTo>
                  <a:lnTo>
                    <a:pt x="0" y="1784096"/>
                  </a:lnTo>
                  <a:lnTo>
                    <a:pt x="892048" y="892048"/>
                  </a:lnTo>
                  <a:close/>
                </a:path>
              </a:pathLst>
            </a:custGeom>
            <a:solidFill>
              <a:srgbClr val="143440"/>
            </a:solidFill>
            <a:ln>
              <a:noFill/>
            </a:ln>
          </p:spPr>
        </p:sp>
        <p:sp>
          <p:nvSpPr>
            <p:cNvPr id="120" name="Google Shape;120;p3"/>
            <p:cNvSpPr txBox="1"/>
            <p:nvPr/>
          </p:nvSpPr>
          <p:spPr>
            <a:xfrm>
              <a:off x="0" y="-9525"/>
              <a:ext cx="8815200" cy="1793525"/>
            </a:xfrm>
            <a:prstGeom prst="rect">
              <a:avLst/>
            </a:prstGeom>
            <a:noFill/>
            <a:ln>
              <a:noFill/>
            </a:ln>
          </p:spPr>
          <p:txBody>
            <a:bodyPr anchorCtr="0" anchor="ctr" bIns="50800" lIns="50800" spcFirstLastPara="1" rIns="50800" wrap="square" tIns="50800">
              <a:noAutofit/>
            </a:bodyPr>
            <a:lstStyle/>
            <a:p>
              <a:pPr indent="0" lvl="0" marL="0" marR="0" rtl="0" algn="ctr">
                <a:lnSpc>
                  <a:spcPct val="120000"/>
                </a:lnSpc>
                <a:spcBef>
                  <a:spcPts val="0"/>
                </a:spcBef>
                <a:spcAft>
                  <a:spcPts val="0"/>
                </a:spcAft>
                <a:buNone/>
              </a:pPr>
              <a:r>
                <a:rPr b="0" i="0" lang="en-US" sz="3000" u="none" cap="none" strike="noStrike">
                  <a:solidFill>
                    <a:srgbClr val="FFFFFF"/>
                  </a:solidFill>
                  <a:latin typeface="DM Sans"/>
                  <a:ea typeface="DM Sans"/>
                  <a:cs typeface="DM Sans"/>
                  <a:sym typeface="DM Sans"/>
                </a:rPr>
                <a:t>Potential Conclusion &amp; </a:t>
              </a:r>
              <a:endParaRPr/>
            </a:p>
            <a:p>
              <a:pPr indent="0" lvl="0" marL="0" marR="0" rtl="0" algn="ctr">
                <a:lnSpc>
                  <a:spcPct val="120000"/>
                </a:lnSpc>
                <a:spcBef>
                  <a:spcPts val="0"/>
                </a:spcBef>
                <a:spcAft>
                  <a:spcPts val="0"/>
                </a:spcAft>
                <a:buNone/>
              </a:pPr>
              <a:r>
                <a:rPr b="0" i="0" lang="en-US" sz="3000" u="none" cap="none" strike="noStrike">
                  <a:solidFill>
                    <a:srgbClr val="FFFFFF"/>
                  </a:solidFill>
                  <a:latin typeface="DM Sans"/>
                  <a:ea typeface="DM Sans"/>
                  <a:cs typeface="DM Sans"/>
                  <a:sym typeface="DM Sans"/>
                </a:rPr>
                <a:t>Next Steps</a:t>
              </a:r>
              <a:endParaRPr/>
            </a:p>
          </p:txBody>
        </p:sp>
      </p:grpSp>
      <p:sp>
        <p:nvSpPr>
          <p:cNvPr id="121" name="Google Shape;121;p3"/>
          <p:cNvSpPr txBox="1"/>
          <p:nvPr/>
        </p:nvSpPr>
        <p:spPr>
          <a:xfrm>
            <a:off x="12425551" y="4158050"/>
            <a:ext cx="4833749" cy="5133975"/>
          </a:xfrm>
          <a:prstGeom prst="rect">
            <a:avLst/>
          </a:prstGeom>
          <a:noFill/>
          <a:ln>
            <a:noFill/>
          </a:ln>
        </p:spPr>
        <p:txBody>
          <a:bodyPr anchorCtr="0" anchor="t" bIns="0" lIns="0" spcFirstLastPara="1" rIns="0" wrap="square" tIns="0">
            <a:spAutoFit/>
          </a:bodyPr>
          <a:lstStyle/>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Potential Conclusion:</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This is a multifaceted issue that needs further research</a:t>
            </a:r>
            <a:endParaRPr/>
          </a:p>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DM Sans"/>
                <a:ea typeface="DM Sans"/>
                <a:cs typeface="DM Sans"/>
                <a:sym typeface="DM Sans"/>
              </a:rPr>
              <a:t>Next Steps:</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Surveying potential first generation college students</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Focusing on the lack of support</a:t>
            </a:r>
            <a:endParaRPr/>
          </a:p>
        </p:txBody>
      </p:sp>
      <p:grpSp>
        <p:nvGrpSpPr>
          <p:cNvPr id="122" name="Google Shape;122;p3"/>
          <p:cNvGrpSpPr/>
          <p:nvPr/>
        </p:nvGrpSpPr>
        <p:grpSpPr>
          <a:xfrm>
            <a:off x="0" y="2372834"/>
            <a:ext cx="7093839" cy="1345216"/>
            <a:chOff x="0" y="-9525"/>
            <a:chExt cx="9458452" cy="1793621"/>
          </a:xfrm>
        </p:grpSpPr>
        <p:sp>
          <p:nvSpPr>
            <p:cNvPr id="123" name="Google Shape;123;p3"/>
            <p:cNvSpPr/>
            <p:nvPr/>
          </p:nvSpPr>
          <p:spPr>
            <a:xfrm>
              <a:off x="0" y="0"/>
              <a:ext cx="9458452" cy="1784096"/>
            </a:xfrm>
            <a:custGeom>
              <a:rect b="b" l="l" r="r" t="t"/>
              <a:pathLst>
                <a:path extrusionOk="0" h="1784096" w="9458452">
                  <a:moveTo>
                    <a:pt x="0" y="0"/>
                  </a:moveTo>
                  <a:lnTo>
                    <a:pt x="8566404" y="0"/>
                  </a:lnTo>
                  <a:lnTo>
                    <a:pt x="9458452" y="892048"/>
                  </a:lnTo>
                  <a:lnTo>
                    <a:pt x="8566404" y="1784096"/>
                  </a:lnTo>
                  <a:lnTo>
                    <a:pt x="0" y="1784096"/>
                  </a:lnTo>
                  <a:close/>
                </a:path>
              </a:pathLst>
            </a:custGeom>
            <a:solidFill>
              <a:srgbClr val="143440"/>
            </a:solidFill>
            <a:ln>
              <a:noFill/>
            </a:ln>
          </p:spPr>
        </p:sp>
        <p:sp>
          <p:nvSpPr>
            <p:cNvPr id="124" name="Google Shape;124;p3"/>
            <p:cNvSpPr txBox="1"/>
            <p:nvPr/>
          </p:nvSpPr>
          <p:spPr>
            <a:xfrm>
              <a:off x="0" y="-9525"/>
              <a:ext cx="9458400" cy="1793525"/>
            </a:xfrm>
            <a:prstGeom prst="rect">
              <a:avLst/>
            </a:prstGeom>
            <a:noFill/>
            <a:ln>
              <a:noFill/>
            </a:ln>
          </p:spPr>
          <p:txBody>
            <a:bodyPr anchorCtr="0" anchor="ctr" bIns="50800" lIns="50800" spcFirstLastPara="1" rIns="50800" wrap="square" tIns="50800">
              <a:noAutofit/>
            </a:bodyPr>
            <a:lstStyle/>
            <a:p>
              <a:pPr indent="0" lvl="0" marL="0" marR="0" rtl="0" algn="ctr">
                <a:lnSpc>
                  <a:spcPct val="120000"/>
                </a:lnSpc>
                <a:spcBef>
                  <a:spcPts val="0"/>
                </a:spcBef>
                <a:spcAft>
                  <a:spcPts val="0"/>
                </a:spcAft>
                <a:buNone/>
              </a:pPr>
              <a:r>
                <a:rPr b="0" i="0" lang="en-US" sz="3200" u="none" cap="none" strike="noStrike">
                  <a:solidFill>
                    <a:srgbClr val="FFFFFF"/>
                  </a:solidFill>
                  <a:latin typeface="DM Sans"/>
                  <a:ea typeface="DM Sans"/>
                  <a:cs typeface="DM Sans"/>
                  <a:sym typeface="DM Sans"/>
                </a:rPr>
                <a:t>Background</a:t>
              </a:r>
              <a:endParaRPr/>
            </a:p>
          </p:txBody>
        </p:sp>
      </p:grpSp>
      <p:sp>
        <p:nvSpPr>
          <p:cNvPr id="125" name="Google Shape;125;p3"/>
          <p:cNvSpPr txBox="1"/>
          <p:nvPr/>
        </p:nvSpPr>
        <p:spPr>
          <a:xfrm>
            <a:off x="1402147" y="4158050"/>
            <a:ext cx="4289550" cy="5562600"/>
          </a:xfrm>
          <a:prstGeom prst="rect">
            <a:avLst/>
          </a:prstGeom>
          <a:noFill/>
          <a:ln>
            <a:noFill/>
          </a:ln>
        </p:spPr>
        <p:txBody>
          <a:bodyPr anchorCtr="0" anchor="t" bIns="0" lIns="0" spcFirstLastPara="1" rIns="0" wrap="square" tIns="0">
            <a:spAutoFit/>
          </a:bodyPr>
          <a:lstStyle/>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Comparing the 2012 and 2022 % educational attainment</a:t>
            </a:r>
            <a:endParaRPr/>
          </a:p>
          <a:p>
            <a:pPr indent="-474805" lvl="1" marL="949612"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Research Question: What are some of the factors that drive the enrollment of African American students in college?</a:t>
            </a:r>
            <a:endParaRPr/>
          </a:p>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Reviewing potential legal factors on education</a:t>
            </a:r>
            <a:endParaRPr/>
          </a:p>
        </p:txBody>
      </p:sp>
      <p:grpSp>
        <p:nvGrpSpPr>
          <p:cNvPr id="126" name="Google Shape;126;p3"/>
          <p:cNvGrpSpPr/>
          <p:nvPr/>
        </p:nvGrpSpPr>
        <p:grpSpPr>
          <a:xfrm>
            <a:off x="5888400" y="2372772"/>
            <a:ext cx="6611400" cy="1371408"/>
            <a:chOff x="0" y="-9525"/>
            <a:chExt cx="8815200" cy="1828543"/>
          </a:xfrm>
        </p:grpSpPr>
        <p:sp>
          <p:nvSpPr>
            <p:cNvPr id="127" name="Google Shape;127;p3"/>
            <p:cNvSpPr/>
            <p:nvPr/>
          </p:nvSpPr>
          <p:spPr>
            <a:xfrm>
              <a:off x="0" y="0"/>
              <a:ext cx="8815197" cy="1818894"/>
            </a:xfrm>
            <a:custGeom>
              <a:rect b="b" l="l" r="r" t="t"/>
              <a:pathLst>
                <a:path extrusionOk="0" h="1818894" w="8815197">
                  <a:moveTo>
                    <a:pt x="0" y="0"/>
                  </a:moveTo>
                  <a:lnTo>
                    <a:pt x="7905750" y="0"/>
                  </a:lnTo>
                  <a:lnTo>
                    <a:pt x="8815197" y="909447"/>
                  </a:lnTo>
                  <a:lnTo>
                    <a:pt x="7905750" y="1818894"/>
                  </a:lnTo>
                  <a:lnTo>
                    <a:pt x="0" y="1818894"/>
                  </a:lnTo>
                  <a:lnTo>
                    <a:pt x="909447" y="909447"/>
                  </a:lnTo>
                  <a:close/>
                </a:path>
              </a:pathLst>
            </a:custGeom>
            <a:solidFill>
              <a:srgbClr val="D87255"/>
            </a:solidFill>
            <a:ln>
              <a:noFill/>
            </a:ln>
          </p:spPr>
        </p:sp>
        <p:sp>
          <p:nvSpPr>
            <p:cNvPr id="128" name="Google Shape;128;p3"/>
            <p:cNvSpPr txBox="1"/>
            <p:nvPr/>
          </p:nvSpPr>
          <p:spPr>
            <a:xfrm>
              <a:off x="0" y="-9525"/>
              <a:ext cx="8815200" cy="1828543"/>
            </a:xfrm>
            <a:prstGeom prst="rect">
              <a:avLst/>
            </a:prstGeom>
            <a:noFill/>
            <a:ln>
              <a:noFill/>
            </a:ln>
          </p:spPr>
          <p:txBody>
            <a:bodyPr anchorCtr="0" anchor="ctr" bIns="50800" lIns="50800" spcFirstLastPara="1" rIns="50800" wrap="square" tIns="50800">
              <a:noAutofit/>
            </a:bodyPr>
            <a:lstStyle/>
            <a:p>
              <a:pPr indent="0" lvl="0" marL="0" marR="0" rtl="0" algn="ctr">
                <a:lnSpc>
                  <a:spcPct val="120000"/>
                </a:lnSpc>
                <a:spcBef>
                  <a:spcPts val="0"/>
                </a:spcBef>
                <a:spcAft>
                  <a:spcPts val="0"/>
                </a:spcAft>
                <a:buNone/>
              </a:pPr>
              <a:r>
                <a:rPr b="0" i="0" lang="en-US" sz="3200" u="none" cap="none" strike="noStrike">
                  <a:solidFill>
                    <a:srgbClr val="FFFFFF"/>
                  </a:solidFill>
                  <a:latin typeface="DM Sans"/>
                  <a:ea typeface="DM Sans"/>
                  <a:cs typeface="DM Sans"/>
                  <a:sym typeface="DM Sans"/>
                </a:rPr>
                <a:t>Factors</a:t>
              </a:r>
              <a:endParaRPr/>
            </a:p>
          </p:txBody>
        </p:sp>
      </p:grpSp>
      <p:sp>
        <p:nvSpPr>
          <p:cNvPr id="129" name="Google Shape;129;p3"/>
          <p:cNvSpPr txBox="1"/>
          <p:nvPr/>
        </p:nvSpPr>
        <p:spPr>
          <a:xfrm>
            <a:off x="7049323" y="4158243"/>
            <a:ext cx="4289550" cy="5562600"/>
          </a:xfrm>
          <a:prstGeom prst="rect">
            <a:avLst/>
          </a:prstGeom>
          <a:noFill/>
          <a:ln>
            <a:noFill/>
          </a:ln>
        </p:spPr>
        <p:txBody>
          <a:bodyPr anchorCtr="0" anchor="t" bIns="0" lIns="0" spcFirstLastPara="1" rIns="0" wrap="square" tIns="0">
            <a:spAutoFit/>
          </a:bodyPr>
          <a:lstStyle/>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High schools effect on higher education enrollment	</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AP Courses</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Faculty</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Resources</a:t>
            </a:r>
            <a:endParaRPr/>
          </a:p>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Parent education level</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Support given during school</a:t>
            </a:r>
            <a:endParaRPr/>
          </a:p>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Financial burden</a:t>
            </a:r>
            <a:endParaRPr/>
          </a:p>
          <a:p>
            <a:pPr indent="-624416" lvl="2" marL="1873248"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Financial literacy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33" name="Shape 133"/>
        <p:cNvGrpSpPr/>
        <p:nvPr/>
      </p:nvGrpSpPr>
      <p:grpSpPr>
        <a:xfrm>
          <a:off x="0" y="0"/>
          <a:ext cx="0" cy="0"/>
          <a:chOff x="0" y="0"/>
          <a:chExt cx="0" cy="0"/>
        </a:xfrm>
      </p:grpSpPr>
      <p:sp>
        <p:nvSpPr>
          <p:cNvPr id="134" name="Google Shape;134;p4"/>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BACKGROUND: RESEARCH QUESTIONS</a:t>
            </a:r>
            <a:endParaRPr/>
          </a:p>
        </p:txBody>
      </p:sp>
      <p:sp>
        <p:nvSpPr>
          <p:cNvPr id="135" name="Google Shape;135;p4"/>
          <p:cNvSpPr txBox="1"/>
          <p:nvPr/>
        </p:nvSpPr>
        <p:spPr>
          <a:xfrm>
            <a:off x="714825" y="2339225"/>
            <a:ext cx="16858350" cy="5203698"/>
          </a:xfrm>
          <a:prstGeom prst="rect">
            <a:avLst/>
          </a:prstGeom>
          <a:noFill/>
          <a:ln>
            <a:noFill/>
          </a:ln>
        </p:spPr>
        <p:txBody>
          <a:bodyPr anchorCtr="0" anchor="t" bIns="0" lIns="0" spcFirstLastPara="1" rIns="0" wrap="square" tIns="0">
            <a:spAutoFit/>
          </a:bodyPr>
          <a:lstStyle/>
          <a:p>
            <a:pPr indent="-548640" lvl="1" marL="1097280" marR="0" rtl="0" algn="l">
              <a:lnSpc>
                <a:spcPct val="137972"/>
              </a:lnSpc>
              <a:spcBef>
                <a:spcPts val="0"/>
              </a:spcBef>
              <a:spcAft>
                <a:spcPts val="0"/>
              </a:spcAft>
              <a:buClr>
                <a:srgbClr val="000000"/>
              </a:buClr>
              <a:buSzPts val="3600"/>
              <a:buFont typeface="Arial"/>
              <a:buChar char="•"/>
            </a:pPr>
            <a:r>
              <a:rPr b="0" i="0" lang="en-US" sz="3600" u="none" cap="none" strike="noStrike">
                <a:solidFill>
                  <a:srgbClr val="000000"/>
                </a:solidFill>
                <a:latin typeface="DM Sans"/>
                <a:ea typeface="DM Sans"/>
                <a:cs typeface="DM Sans"/>
                <a:sym typeface="DM Sans"/>
              </a:rPr>
              <a:t>What are some of the factors that drive the enrollment of African American students in college?</a:t>
            </a:r>
            <a:endParaRPr/>
          </a:p>
          <a:p>
            <a:pPr indent="-623146" lvl="2" marL="18694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Is the percentage of Black students graduating high school lower than white students?</a:t>
            </a:r>
            <a:endParaRPr/>
          </a:p>
          <a:p>
            <a:pPr indent="-704850" lvl="3" marL="2819400" marR="0" rtl="0" algn="l">
              <a:lnSpc>
                <a:spcPct val="138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If so, is that the cause of the gap between Black and white student college enrollment and completion?</a:t>
            </a:r>
            <a:endParaRPr/>
          </a:p>
          <a:p>
            <a:pPr indent="-623146" lvl="2" marL="18694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Is financial cost of college the only deterrent of Black students from college?</a:t>
            </a:r>
            <a:endParaRPr/>
          </a:p>
          <a:p>
            <a:pPr indent="-695959" lvl="3" marL="27838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Are there internal household issues that exacerbate the financial deficit many students have for college?</a:t>
            </a:r>
            <a:endParaRPr/>
          </a:p>
          <a:p>
            <a:pPr indent="-623146" lvl="2" marL="18694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How do individual parents and schools affect their students and their enrollment in college?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39" name="Shape 139"/>
        <p:cNvGrpSpPr/>
        <p:nvPr/>
      </p:nvGrpSpPr>
      <p:grpSpPr>
        <a:xfrm>
          <a:off x="0" y="0"/>
          <a:ext cx="0" cy="0"/>
          <a:chOff x="0" y="0"/>
          <a:chExt cx="0" cy="0"/>
        </a:xfrm>
      </p:grpSpPr>
      <p:sp>
        <p:nvSpPr>
          <p:cNvPr id="140" name="Google Shape;140;p5"/>
          <p:cNvSpPr txBox="1"/>
          <p:nvPr/>
        </p:nvSpPr>
        <p:spPr>
          <a:xfrm>
            <a:off x="714825" y="1081750"/>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Factors: Systemic Issues</a:t>
            </a:r>
            <a:endParaRPr/>
          </a:p>
        </p:txBody>
      </p:sp>
      <p:sp>
        <p:nvSpPr>
          <p:cNvPr id="141" name="Google Shape;141;p5"/>
          <p:cNvSpPr txBox="1"/>
          <p:nvPr/>
        </p:nvSpPr>
        <p:spPr>
          <a:xfrm>
            <a:off x="714825" y="2348750"/>
            <a:ext cx="7816950" cy="4841367"/>
          </a:xfrm>
          <a:prstGeom prst="rect">
            <a:avLst/>
          </a:prstGeom>
          <a:noFill/>
          <a:ln>
            <a:noFill/>
          </a:ln>
        </p:spPr>
        <p:txBody>
          <a:bodyPr anchorCtr="0" anchor="t" bIns="0" lIns="0" spcFirstLastPara="1" rIns="0" wrap="square" tIns="0">
            <a:spAutoFit/>
          </a:bodyPr>
          <a:lstStyle/>
          <a:p>
            <a:pPr indent="0" lvl="0" marL="0" marR="0" rtl="0" algn="l">
              <a:lnSpc>
                <a:spcPct val="138013"/>
              </a:lnSpc>
              <a:spcBef>
                <a:spcPts val="0"/>
              </a:spcBef>
              <a:spcAft>
                <a:spcPts val="0"/>
              </a:spcAft>
              <a:buNone/>
            </a:pPr>
            <a:r>
              <a:rPr b="0" i="0" lang="en-US" sz="2799" u="none" cap="none" strike="noStrike">
                <a:solidFill>
                  <a:srgbClr val="000000"/>
                </a:solidFill>
                <a:latin typeface="Arial"/>
                <a:ea typeface="Arial"/>
                <a:cs typeface="Arial"/>
                <a:sym typeface="Arial"/>
              </a:rPr>
              <a:t>Disparities in enrollment are not only a family, finance, and school issue…</a:t>
            </a:r>
            <a:endParaRPr/>
          </a:p>
          <a:p>
            <a:pPr indent="0" lvl="0" marL="0" marR="0" rtl="0" algn="l">
              <a:lnSpc>
                <a:spcPct val="138013"/>
              </a:lnSpc>
              <a:spcBef>
                <a:spcPts val="0"/>
              </a:spcBef>
              <a:spcAft>
                <a:spcPts val="0"/>
              </a:spcAft>
              <a:buNone/>
            </a:pPr>
            <a:r>
              <a:rPr b="0" i="0" lang="en-US" sz="2799" u="none" cap="none" strike="noStrike">
                <a:solidFill>
                  <a:srgbClr val="000000"/>
                </a:solidFill>
                <a:latin typeface="Arial"/>
                <a:ea typeface="Arial"/>
                <a:cs typeface="Arial"/>
                <a:sym typeface="Arial"/>
              </a:rPr>
              <a:t>It’s also a systemic issue:</a:t>
            </a:r>
            <a:endParaRPr/>
          </a:p>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HR 471 (2011) - defunded DoE funds for education of disadvantaged groups </a:t>
            </a:r>
            <a:endParaRPr/>
          </a:p>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 DENIAL of S-117 (2015) Amendment 2139 - called for State funds that were used for disadvantaged students to continue being used by students once they went to an in-state institution </a:t>
            </a:r>
            <a:endParaRPr/>
          </a:p>
        </p:txBody>
      </p:sp>
      <p:sp>
        <p:nvSpPr>
          <p:cNvPr id="142" name="Google Shape;142;p5"/>
          <p:cNvSpPr txBox="1"/>
          <p:nvPr/>
        </p:nvSpPr>
        <p:spPr>
          <a:xfrm>
            <a:off x="9756225" y="2310650"/>
            <a:ext cx="7816950" cy="5487543"/>
          </a:xfrm>
          <a:prstGeom prst="rect">
            <a:avLst/>
          </a:prstGeom>
          <a:noFill/>
          <a:ln>
            <a:noFill/>
          </a:ln>
        </p:spPr>
        <p:txBody>
          <a:bodyPr anchorCtr="0" anchor="t" bIns="0" lIns="0" spcFirstLastPara="1" rIns="0" wrap="square" tIns="0">
            <a:spAutoFit/>
          </a:bodyPr>
          <a:lstStyle/>
          <a:p>
            <a:pPr indent="0" lvl="0" marL="0" marR="0" rtl="0" algn="l">
              <a:lnSpc>
                <a:spcPct val="35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38008"/>
              </a:lnSpc>
              <a:spcBef>
                <a:spcPts val="0"/>
              </a:spcBef>
              <a:spcAft>
                <a:spcPts val="0"/>
              </a:spcAft>
              <a:buNone/>
            </a:pPr>
            <a:r>
              <a:rPr b="0" i="0" lang="en-US" sz="4599" u="none" cap="none" strike="noStrike">
                <a:solidFill>
                  <a:srgbClr val="000000"/>
                </a:solidFill>
                <a:latin typeface="Play"/>
                <a:ea typeface="Play"/>
                <a:cs typeface="Play"/>
                <a:sym typeface="Play"/>
              </a:rPr>
              <a:t>SOURCES:</a:t>
            </a:r>
            <a:endParaRPr/>
          </a:p>
          <a:p>
            <a:pPr indent="0" lvl="0" marL="0" marR="0" rtl="0" algn="l">
              <a:lnSpc>
                <a:spcPct val="83996"/>
              </a:lnSpc>
              <a:spcBef>
                <a:spcPts val="0"/>
              </a:spcBef>
              <a:spcAft>
                <a:spcPts val="0"/>
              </a:spcAft>
              <a:buNone/>
            </a:pPr>
            <a:r>
              <a:t/>
            </a:r>
            <a:endParaRPr b="0" i="0" sz="4599" u="none" cap="none" strike="noStrike">
              <a:solidFill>
                <a:srgbClr val="000000"/>
              </a:solidFill>
              <a:latin typeface="Play"/>
              <a:ea typeface="Play"/>
              <a:cs typeface="Play"/>
              <a:sym typeface="Play"/>
            </a:endParaRPr>
          </a:p>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t>
            </a:r>
            <a:r>
              <a:rPr b="0" i="0" lang="en-US" sz="2799" u="sng" cap="none" strike="noStrike">
                <a:solidFill>
                  <a:srgbClr val="000000"/>
                </a:solidFill>
                <a:latin typeface="Arial"/>
                <a:ea typeface="Arial"/>
                <a:cs typeface="Arial"/>
                <a:sym typeface="Arial"/>
                <a:hlinkClick r:id="rId3">
                  <a:extLst>
                    <a:ext uri="{A12FA001-AC4F-418D-AE19-62706E023703}">
                      <ahyp:hlinkClr val="tx"/>
                    </a:ext>
                  </a:extLst>
                </a:hlinkClick>
              </a:rPr>
              <a:t>https://www.govtrack.us/congress/bills/subjects/education/5991#text=college&amp;congress=112&amp;enacted_ex=on</a:t>
            </a:r>
            <a:r>
              <a:rPr b="0" i="0" lang="en-US" sz="2799" u="none" cap="none" strike="noStrike">
                <a:solidFill>
                  <a:srgbClr val="000000"/>
                </a:solidFill>
                <a:latin typeface="Arial"/>
                <a:ea typeface="Arial"/>
                <a:cs typeface="Arial"/>
                <a:sym typeface="Arial"/>
              </a:rPr>
              <a:t>)</a:t>
            </a:r>
            <a:endParaRPr/>
          </a:p>
          <a:p>
            <a:pPr indent="-623146" lvl="2" marL="18694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HR 471 (2011)</a:t>
            </a:r>
            <a:endParaRPr/>
          </a:p>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t>
            </a:r>
            <a:r>
              <a:rPr b="0" i="0" lang="en-US" sz="2799" u="sng" cap="none" strike="noStrike">
                <a:solidFill>
                  <a:srgbClr val="000000"/>
                </a:solidFill>
                <a:latin typeface="Arial"/>
                <a:ea typeface="Arial"/>
                <a:cs typeface="Arial"/>
                <a:sym typeface="Arial"/>
                <a:hlinkClick r:id="rId4">
                  <a:extLst>
                    <a:ext uri="{A12FA001-AC4F-418D-AE19-62706E023703}">
                      <ahyp:hlinkClr val="tx"/>
                    </a:ext>
                  </a:extLst>
                </a:hlinkClick>
              </a:rPr>
              <a:t>https://www.govtrack.us/congress/bills/114/s1177/summary</a:t>
            </a:r>
            <a:r>
              <a:rPr b="0" i="0" lang="en-US" sz="2799" u="none" cap="none" strike="noStrike">
                <a:solidFill>
                  <a:srgbClr val="000000"/>
                </a:solidFill>
                <a:latin typeface="Arial"/>
                <a:ea typeface="Arial"/>
                <a:cs typeface="Arial"/>
                <a:sym typeface="Arial"/>
              </a:rPr>
              <a:t>)</a:t>
            </a:r>
            <a:endParaRPr/>
          </a:p>
          <a:p>
            <a:pPr indent="-477519" lvl="1" marL="955039" marR="0" rtl="0" algn="l">
              <a:lnSpc>
                <a:spcPct val="138013"/>
              </a:lnSpc>
              <a:spcBef>
                <a:spcPts val="0"/>
              </a:spcBef>
              <a:spcAft>
                <a:spcPts val="0"/>
              </a:spcAft>
              <a:buNone/>
            </a:pPr>
            <a:r>
              <a:rPr b="0" i="0" lang="en-US" sz="2799" u="none" cap="none" strike="noStrike">
                <a:solidFill>
                  <a:srgbClr val="000000"/>
                </a:solidFill>
                <a:latin typeface="Arial"/>
                <a:ea typeface="Arial"/>
                <a:cs typeface="Arial"/>
                <a:sym typeface="Arial"/>
              </a:rPr>
              <a:t>	S-117 (2015)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46" name="Shape 146"/>
        <p:cNvGrpSpPr/>
        <p:nvPr/>
      </p:nvGrpSpPr>
      <p:grpSpPr>
        <a:xfrm>
          <a:off x="0" y="0"/>
          <a:ext cx="0" cy="0"/>
          <a:chOff x="0" y="0"/>
          <a:chExt cx="0" cy="0"/>
        </a:xfrm>
      </p:grpSpPr>
      <p:sp>
        <p:nvSpPr>
          <p:cNvPr id="147" name="Google Shape;147;p6"/>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FACTORS: PARENTAL EDUCATION &amp; FINANCE</a:t>
            </a:r>
            <a:endParaRPr/>
          </a:p>
        </p:txBody>
      </p:sp>
      <p:sp>
        <p:nvSpPr>
          <p:cNvPr id="148" name="Google Shape;148;p6"/>
          <p:cNvSpPr txBox="1"/>
          <p:nvPr/>
        </p:nvSpPr>
        <p:spPr>
          <a:xfrm>
            <a:off x="714825" y="2329700"/>
            <a:ext cx="7816950" cy="4808220"/>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None/>
            </a:pPr>
            <a:r>
              <a:rPr b="0" i="0" lang="en-US" sz="3200" u="none" cap="none" strike="noStrike">
                <a:solidFill>
                  <a:srgbClr val="000000"/>
                </a:solidFill>
                <a:latin typeface="DM Sans"/>
                <a:ea typeface="DM Sans"/>
                <a:cs typeface="DM Sans"/>
                <a:sym typeface="DM Sans"/>
              </a:rPr>
              <a:t>Parental Education</a:t>
            </a:r>
            <a:endParaRPr/>
          </a:p>
          <a:p>
            <a:pPr indent="-440690" lvl="1" marL="881381" marR="0" rtl="0" algn="l">
              <a:lnSpc>
                <a:spcPct val="138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Educated parents enhance their children’s communication skills and broadens their vocabulary </a:t>
            </a:r>
            <a:endParaRPr/>
          </a:p>
          <a:p>
            <a:pPr indent="-495104" lvl="1" marL="99020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Parental education has been identified as the single strongest correlate of children’s success in school, the number of years they attend school, and their success later in life</a:t>
            </a:r>
            <a:endParaRPr/>
          </a:p>
          <a:p>
            <a:pPr indent="-495104" lvl="1" marL="990208" marR="0" rtl="0" algn="l">
              <a:lnSpc>
                <a:spcPct val="138013"/>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sp>
        <p:nvSpPr>
          <p:cNvPr id="149" name="Google Shape;149;p6"/>
          <p:cNvSpPr txBox="1"/>
          <p:nvPr/>
        </p:nvSpPr>
        <p:spPr>
          <a:xfrm>
            <a:off x="9756225" y="2386850"/>
            <a:ext cx="7816950" cy="6452540"/>
          </a:xfrm>
          <a:prstGeom prst="rect">
            <a:avLst/>
          </a:prstGeom>
          <a:noFill/>
          <a:ln>
            <a:noFill/>
          </a:ln>
        </p:spPr>
        <p:txBody>
          <a:bodyPr anchorCtr="0" anchor="t" bIns="0" lIns="0" spcFirstLastPara="1" rIns="0" wrap="square" tIns="0">
            <a:spAutoFit/>
          </a:bodyPr>
          <a:lstStyle/>
          <a:p>
            <a:pPr indent="0" lvl="0" marL="0" marR="0" rtl="0" algn="l">
              <a:lnSpc>
                <a:spcPct val="124222"/>
              </a:lnSpc>
              <a:spcBef>
                <a:spcPts val="0"/>
              </a:spcBef>
              <a:spcAft>
                <a:spcPts val="0"/>
              </a:spcAft>
              <a:buNone/>
            </a:pPr>
            <a:r>
              <a:rPr b="0" i="0" lang="en-US" sz="2799" u="none" cap="none" strike="noStrike">
                <a:solidFill>
                  <a:srgbClr val="000000"/>
                </a:solidFill>
                <a:latin typeface="DM Sans"/>
                <a:ea typeface="DM Sans"/>
                <a:cs typeface="DM Sans"/>
                <a:sym typeface="DM Sans"/>
              </a:rPr>
              <a:t>Finance</a:t>
            </a:r>
            <a:endParaRPr/>
          </a:p>
          <a:p>
            <a:pPr indent="-477519" lvl="1" marL="955039" marR="0" rtl="0" algn="l">
              <a:lnSpc>
                <a:spcPct val="124222"/>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According to the National Postsecondary Student Aid Survey from 2019-2020:</a:t>
            </a:r>
            <a:endParaRPr/>
          </a:p>
          <a:p>
            <a:pPr indent="-611294" lvl="2" marL="1833882" marR="0" rtl="0" algn="l">
              <a:lnSpc>
                <a:spcPct val="124192"/>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48% of Black students received a federal student loan, which is 13% more than the overall student percentage of 35%</a:t>
            </a:r>
            <a:endParaRPr/>
          </a:p>
          <a:p>
            <a:pPr indent="-477519" lvl="1" marL="955039" marR="0" rtl="0" algn="l">
              <a:lnSpc>
                <a:spcPct val="124222"/>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According to the National Center for Education Statistics</a:t>
            </a:r>
            <a:endParaRPr/>
          </a:p>
          <a:p>
            <a:pPr indent="-658314" lvl="2" marL="1974945" marR="0" rtl="0" algn="l">
              <a:lnSpc>
                <a:spcPct val="124222"/>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2015 -16 Black students took out the highest number of loans and received the highest number of grants.</a:t>
            </a:r>
            <a:endParaRPr/>
          </a:p>
          <a:p>
            <a:pPr indent="-658314" lvl="2" marL="1974945" marR="0" rtl="0" algn="l">
              <a:lnSpc>
                <a:spcPct val="124222"/>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53" name="Shape 153"/>
        <p:cNvGrpSpPr/>
        <p:nvPr/>
      </p:nvGrpSpPr>
      <p:grpSpPr>
        <a:xfrm>
          <a:off x="0" y="0"/>
          <a:ext cx="0" cy="0"/>
          <a:chOff x="0" y="0"/>
          <a:chExt cx="0" cy="0"/>
        </a:xfrm>
      </p:grpSpPr>
      <p:sp>
        <p:nvSpPr>
          <p:cNvPr id="154" name="Google Shape;154;p7"/>
          <p:cNvSpPr txBox="1"/>
          <p:nvPr/>
        </p:nvSpPr>
        <p:spPr>
          <a:xfrm>
            <a:off x="714825" y="981475"/>
            <a:ext cx="16858350" cy="1485900"/>
          </a:xfrm>
          <a:prstGeom prst="rect">
            <a:avLst/>
          </a:prstGeom>
          <a:noFill/>
          <a:ln>
            <a:noFill/>
          </a:ln>
        </p:spPr>
        <p:txBody>
          <a:bodyPr anchorCtr="0" anchor="t" bIns="0" lIns="0" spcFirstLastPara="1" rIns="0" wrap="square" tIns="0">
            <a:spAutoFit/>
          </a:bodyPr>
          <a:lstStyle/>
          <a:p>
            <a:pPr indent="0" lvl="0" marL="0" marR="0" rtl="0" algn="l">
              <a:lnSpc>
                <a:spcPct val="119983"/>
              </a:lnSpc>
              <a:spcBef>
                <a:spcPts val="0"/>
              </a:spcBef>
              <a:spcAft>
                <a:spcPts val="0"/>
              </a:spcAft>
              <a:buNone/>
            </a:pPr>
            <a:r>
              <a:rPr b="0" i="0" lang="en-US" sz="4914" u="none" cap="none" strike="noStrike">
                <a:solidFill>
                  <a:srgbClr val="000000"/>
                </a:solidFill>
                <a:latin typeface="Play"/>
                <a:ea typeface="Play"/>
                <a:cs typeface="Play"/>
                <a:sym typeface="Play"/>
              </a:rPr>
              <a:t>2012 &amp; 2022 Poverty Percentage by Adult Education Level  </a:t>
            </a:r>
            <a:endParaRPr/>
          </a:p>
        </p:txBody>
      </p:sp>
      <p:sp>
        <p:nvSpPr>
          <p:cNvPr id="155" name="Google Shape;155;p7"/>
          <p:cNvSpPr/>
          <p:nvPr/>
        </p:nvSpPr>
        <p:spPr>
          <a:xfrm>
            <a:off x="9205150" y="2695600"/>
            <a:ext cx="8932202" cy="5495048"/>
          </a:xfrm>
          <a:custGeom>
            <a:rect b="b" l="l" r="r" t="t"/>
            <a:pathLst>
              <a:path extrusionOk="0" h="5495048" w="8932202">
                <a:moveTo>
                  <a:pt x="0" y="0"/>
                </a:moveTo>
                <a:lnTo>
                  <a:pt x="8932202" y="0"/>
                </a:lnTo>
                <a:lnTo>
                  <a:pt x="8932202" y="5495048"/>
                </a:lnTo>
                <a:lnTo>
                  <a:pt x="0" y="5495048"/>
                </a:lnTo>
                <a:lnTo>
                  <a:pt x="0" y="0"/>
                </a:lnTo>
                <a:close/>
              </a:path>
            </a:pathLst>
          </a:custGeom>
          <a:blipFill rotWithShape="1">
            <a:blip r:embed="rId3">
              <a:alphaModFix/>
            </a:blip>
            <a:stretch>
              <a:fillRect b="0" l="0" r="0" t="0"/>
            </a:stretch>
          </a:blipFill>
          <a:ln>
            <a:noFill/>
          </a:ln>
        </p:spPr>
      </p:sp>
      <p:sp>
        <p:nvSpPr>
          <p:cNvPr id="156" name="Google Shape;156;p7"/>
          <p:cNvSpPr/>
          <p:nvPr/>
        </p:nvSpPr>
        <p:spPr>
          <a:xfrm>
            <a:off x="51600" y="2695600"/>
            <a:ext cx="8783150" cy="5495052"/>
          </a:xfrm>
          <a:custGeom>
            <a:rect b="b" l="l" r="r" t="t"/>
            <a:pathLst>
              <a:path extrusionOk="0" h="5495052" w="8783150">
                <a:moveTo>
                  <a:pt x="0" y="0"/>
                </a:moveTo>
                <a:lnTo>
                  <a:pt x="8783150" y="0"/>
                </a:lnTo>
                <a:lnTo>
                  <a:pt x="8783150" y="5495052"/>
                </a:lnTo>
                <a:lnTo>
                  <a:pt x="0" y="5495052"/>
                </a:lnTo>
                <a:lnTo>
                  <a:pt x="0" y="0"/>
                </a:lnTo>
                <a:close/>
              </a:path>
            </a:pathLst>
          </a:custGeom>
          <a:blipFill rotWithShape="1">
            <a:blip r:embed="rId4">
              <a:alphaModFix/>
            </a:blip>
            <a:stretch>
              <a:fillRect b="0" l="0" r="0" t="0"/>
            </a:stretch>
          </a:blipFill>
          <a:ln>
            <a:noFill/>
          </a:ln>
        </p:spPr>
      </p:sp>
      <p:sp>
        <p:nvSpPr>
          <p:cNvPr id="157" name="Google Shape;157;p7"/>
          <p:cNvSpPr txBox="1"/>
          <p:nvPr/>
        </p:nvSpPr>
        <p:spPr>
          <a:xfrm>
            <a:off x="618925" y="8667175"/>
            <a:ext cx="15820950" cy="8382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Data Source: </a:t>
            </a:r>
            <a:r>
              <a:rPr b="0" i="0" lang="en-US" sz="2799" u="sng" cap="none" strike="noStrike">
                <a:solidFill>
                  <a:srgbClr val="000000"/>
                </a:solidFill>
                <a:latin typeface="Arial"/>
                <a:ea typeface="Arial"/>
                <a:cs typeface="Arial"/>
                <a:sym typeface="Arial"/>
                <a:hlinkClick r:id="rId5">
                  <a:extLst>
                    <a:ext uri="{A12FA001-AC4F-418D-AE19-62706E023703}">
                      <ahyp:hlinkClr val="tx"/>
                    </a:ext>
                  </a:extLst>
                </a:hlinkClick>
              </a:rPr>
              <a:t>U.S. Department of Commerce, Census Bureau, American Community Survey (ACS), 1-Year Public Use Microdata Sample (PUMS) data, 2012 and 2022.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61" name="Shape 161"/>
        <p:cNvGrpSpPr/>
        <p:nvPr/>
      </p:nvGrpSpPr>
      <p:grpSpPr>
        <a:xfrm>
          <a:off x="0" y="0"/>
          <a:ext cx="0" cy="0"/>
          <a:chOff x="0" y="0"/>
          <a:chExt cx="0" cy="0"/>
        </a:xfrm>
      </p:grpSpPr>
      <p:sp>
        <p:nvSpPr>
          <p:cNvPr id="162" name="Google Shape;162;p8"/>
          <p:cNvSpPr txBox="1"/>
          <p:nvPr/>
        </p:nvSpPr>
        <p:spPr>
          <a:xfrm>
            <a:off x="714825" y="528025"/>
            <a:ext cx="16858350" cy="762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2012 &amp; 2020 Percentage of Receiving Aid by Race</a:t>
            </a:r>
            <a:endParaRPr/>
          </a:p>
        </p:txBody>
      </p:sp>
      <p:sp>
        <p:nvSpPr>
          <p:cNvPr id="163" name="Google Shape;163;p8"/>
          <p:cNvSpPr/>
          <p:nvPr/>
        </p:nvSpPr>
        <p:spPr>
          <a:xfrm>
            <a:off x="623400" y="1478276"/>
            <a:ext cx="7076550" cy="6902698"/>
          </a:xfrm>
          <a:custGeom>
            <a:rect b="b" l="l" r="r" t="t"/>
            <a:pathLst>
              <a:path extrusionOk="0" h="6902698" w="7076550">
                <a:moveTo>
                  <a:pt x="0" y="0"/>
                </a:moveTo>
                <a:lnTo>
                  <a:pt x="7076550" y="0"/>
                </a:lnTo>
                <a:lnTo>
                  <a:pt x="7076550" y="6902698"/>
                </a:lnTo>
                <a:lnTo>
                  <a:pt x="0" y="6902698"/>
                </a:lnTo>
                <a:lnTo>
                  <a:pt x="0" y="0"/>
                </a:lnTo>
                <a:close/>
              </a:path>
            </a:pathLst>
          </a:custGeom>
          <a:blipFill rotWithShape="1">
            <a:blip r:embed="rId3">
              <a:alphaModFix/>
            </a:blip>
            <a:stretch>
              <a:fillRect b="0" l="0" r="0" t="0"/>
            </a:stretch>
          </a:blipFill>
          <a:ln>
            <a:noFill/>
          </a:ln>
        </p:spPr>
      </p:sp>
      <p:sp>
        <p:nvSpPr>
          <p:cNvPr id="164" name="Google Shape;164;p8"/>
          <p:cNvSpPr/>
          <p:nvPr/>
        </p:nvSpPr>
        <p:spPr>
          <a:xfrm>
            <a:off x="9720148" y="1582000"/>
            <a:ext cx="7215452" cy="6695252"/>
          </a:xfrm>
          <a:custGeom>
            <a:rect b="b" l="l" r="r" t="t"/>
            <a:pathLst>
              <a:path extrusionOk="0" h="6695252" w="7215452">
                <a:moveTo>
                  <a:pt x="0" y="0"/>
                </a:moveTo>
                <a:lnTo>
                  <a:pt x="7215452" y="0"/>
                </a:lnTo>
                <a:lnTo>
                  <a:pt x="7215452" y="6695252"/>
                </a:lnTo>
                <a:lnTo>
                  <a:pt x="0" y="6695252"/>
                </a:lnTo>
                <a:lnTo>
                  <a:pt x="0" y="0"/>
                </a:lnTo>
                <a:close/>
              </a:path>
            </a:pathLst>
          </a:custGeom>
          <a:blipFill rotWithShape="1">
            <a:blip r:embed="rId4">
              <a:alphaModFix/>
            </a:blip>
            <a:stretch>
              <a:fillRect b="0" l="0" r="0" t="0"/>
            </a:stretch>
          </a:blipFill>
          <a:ln>
            <a:noFill/>
          </a:ln>
        </p:spPr>
      </p:sp>
      <p:sp>
        <p:nvSpPr>
          <p:cNvPr id="165" name="Google Shape;165;p8"/>
          <p:cNvSpPr txBox="1"/>
          <p:nvPr/>
        </p:nvSpPr>
        <p:spPr>
          <a:xfrm>
            <a:off x="653625" y="8673225"/>
            <a:ext cx="16480950" cy="476250"/>
          </a:xfrm>
          <a:prstGeom prst="rect">
            <a:avLst/>
          </a:prstGeom>
          <a:noFill/>
          <a:ln>
            <a:noFill/>
          </a:ln>
        </p:spPr>
        <p:txBody>
          <a:bodyPr anchorCtr="0" anchor="t" bIns="0" lIns="0" spcFirstLastPara="1" rIns="0" wrap="square" tIns="0">
            <a:spAutoFit/>
          </a:bodyPr>
          <a:lstStyle/>
          <a:p>
            <a:pPr indent="0" lvl="0" marL="0" marR="0" rtl="0" algn="l">
              <a:lnSpc>
                <a:spcPct val="120049"/>
              </a:lnSpc>
              <a:spcBef>
                <a:spcPts val="0"/>
              </a:spcBef>
              <a:spcAft>
                <a:spcPts val="0"/>
              </a:spcAft>
              <a:buNone/>
            </a:pPr>
            <a:r>
              <a:rPr b="0" i="0" lang="en-US" sz="1601" u="none" cap="none" strike="noStrike">
                <a:solidFill>
                  <a:srgbClr val="000000"/>
                </a:solidFill>
                <a:latin typeface="Arial"/>
                <a:ea typeface="Arial"/>
                <a:cs typeface="Arial"/>
                <a:sym typeface="Arial"/>
              </a:rPr>
              <a:t>Data Source: </a:t>
            </a:r>
            <a:r>
              <a:rPr b="0" i="0" lang="en-US" sz="1601" u="sng" cap="none" strike="noStrike">
                <a:solidFill>
                  <a:srgbClr val="000000"/>
                </a:solidFill>
                <a:latin typeface="Arial"/>
                <a:ea typeface="Arial"/>
                <a:cs typeface="Arial"/>
                <a:sym typeface="Arial"/>
                <a:hlinkClick r:id="rId5">
                  <a:extLst>
                    <a:ext uri="{A12FA001-AC4F-418D-AE19-62706E023703}">
                      <ahyp:hlinkClr val="tx"/>
                    </a:ext>
                  </a:extLst>
                </a:hlinkClick>
              </a:rPr>
              <a:t>U.S. Department of Education, National Center for Education Statistics, 1999-2000, 2003-04, 2007-08, 2011-12, and 2015-16 National Postsecondary Student Aid Study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69" name="Shape 169"/>
        <p:cNvGrpSpPr/>
        <p:nvPr/>
      </p:nvGrpSpPr>
      <p:grpSpPr>
        <a:xfrm>
          <a:off x="0" y="0"/>
          <a:ext cx="0" cy="0"/>
          <a:chOff x="0" y="0"/>
          <a:chExt cx="0" cy="0"/>
        </a:xfrm>
      </p:grpSpPr>
      <p:sp>
        <p:nvSpPr>
          <p:cNvPr id="170" name="Google Shape;170;p9"/>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FACTORS: HIGH SCHOOL PREP</a:t>
            </a:r>
            <a:endParaRPr/>
          </a:p>
        </p:txBody>
      </p:sp>
      <p:sp>
        <p:nvSpPr>
          <p:cNvPr id="171" name="Google Shape;171;p9"/>
          <p:cNvSpPr txBox="1"/>
          <p:nvPr/>
        </p:nvSpPr>
        <p:spPr>
          <a:xfrm>
            <a:off x="714825" y="2348750"/>
            <a:ext cx="7816950" cy="4576953"/>
          </a:xfrm>
          <a:prstGeom prst="rect">
            <a:avLst/>
          </a:prstGeom>
          <a:noFill/>
          <a:ln>
            <a:noFill/>
          </a:ln>
        </p:spPr>
        <p:txBody>
          <a:bodyPr anchorCtr="0" anchor="t" bIns="0" lIns="0" spcFirstLastPara="1" rIns="0" wrap="square" tIns="0">
            <a:spAutoFit/>
          </a:bodyPr>
          <a:lstStyle/>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In 2011, research highlighted several characteristics of schools that promoted college education</a:t>
            </a:r>
            <a:endParaRPr/>
          </a:p>
          <a:p>
            <a:pPr indent="-611294" lvl="2" marL="1833882" marR="0" rtl="0" algn="l">
              <a:lnSpc>
                <a:spcPct val="138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Rigorous coursework</a:t>
            </a:r>
            <a:endParaRPr/>
          </a:p>
          <a:p>
            <a:pPr indent="-611294" lvl="2" marL="1833882" marR="0" rtl="0" algn="l">
              <a:lnSpc>
                <a:spcPct val="138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Teachers and staff share the mindset of all students can go to college and it is the faculties responsibility to make that happen</a:t>
            </a:r>
            <a:endParaRPr/>
          </a:p>
          <a:p>
            <a:pPr indent="-459740" lvl="1" marL="919481" marR="0" rtl="0" algn="l">
              <a:lnSpc>
                <a:spcPct val="138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However, disadvantaged schools are lacking these characteristics</a:t>
            </a:r>
            <a:endParaRPr/>
          </a:p>
        </p:txBody>
      </p:sp>
      <p:sp>
        <p:nvSpPr>
          <p:cNvPr id="172" name="Google Shape;172;p9"/>
          <p:cNvSpPr txBox="1"/>
          <p:nvPr/>
        </p:nvSpPr>
        <p:spPr>
          <a:xfrm>
            <a:off x="8859786" y="2348750"/>
            <a:ext cx="8713389" cy="4761714"/>
          </a:xfrm>
          <a:prstGeom prst="rect">
            <a:avLst/>
          </a:prstGeom>
          <a:noFill/>
          <a:ln>
            <a:noFill/>
          </a:ln>
        </p:spPr>
        <p:txBody>
          <a:bodyPr anchorCtr="0" anchor="t" bIns="0" lIns="0" spcFirstLastPara="1" rIns="0" wrap="square" tIns="0">
            <a:spAutoFit/>
          </a:bodyPr>
          <a:lstStyle/>
          <a:p>
            <a:pPr indent="-513168" lvl="1" marL="1026336" marR="0" rtl="0" algn="l">
              <a:lnSpc>
                <a:spcPct val="138011"/>
              </a:lnSpc>
              <a:spcBef>
                <a:spcPts val="0"/>
              </a:spcBef>
              <a:spcAft>
                <a:spcPts val="0"/>
              </a:spcAft>
              <a:buClr>
                <a:srgbClr val="000000"/>
              </a:buClr>
              <a:buSzPts val="2786"/>
              <a:buFont typeface="Arial"/>
              <a:buChar char="•"/>
            </a:pPr>
            <a:r>
              <a:rPr b="0" i="0" lang="en-US" sz="2786" u="none" cap="none" strike="noStrike">
                <a:solidFill>
                  <a:srgbClr val="000000"/>
                </a:solidFill>
                <a:latin typeface="Arial"/>
                <a:ea typeface="Arial"/>
                <a:cs typeface="Arial"/>
                <a:sym typeface="Arial"/>
              </a:rPr>
              <a:t>This begins by creating academic environments that focus on preparing all students for college, including engaging students in rigorous coursework and creating strong norms for performance. It also requires teachers and staff to develop shared goals that “all students can go to college and it is their personal responsibility to try and make that happen” - “Potholes on the Road…”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76" name="Shape 176"/>
        <p:cNvGrpSpPr/>
        <p:nvPr/>
      </p:nvGrpSpPr>
      <p:grpSpPr>
        <a:xfrm>
          <a:off x="0" y="0"/>
          <a:ext cx="0" cy="0"/>
          <a:chOff x="0" y="0"/>
          <a:chExt cx="0" cy="0"/>
        </a:xfrm>
      </p:grpSpPr>
      <p:sp>
        <p:nvSpPr>
          <p:cNvPr id="177" name="Google Shape;177;p10"/>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FACTORS: HIGH SCHOOL PREP</a:t>
            </a:r>
            <a:endParaRPr/>
          </a:p>
        </p:txBody>
      </p:sp>
      <p:sp>
        <p:nvSpPr>
          <p:cNvPr id="178" name="Google Shape;178;p10"/>
          <p:cNvSpPr txBox="1"/>
          <p:nvPr/>
        </p:nvSpPr>
        <p:spPr>
          <a:xfrm>
            <a:off x="714825" y="2348750"/>
            <a:ext cx="7816950" cy="4841367"/>
          </a:xfrm>
          <a:prstGeom prst="rect">
            <a:avLst/>
          </a:prstGeom>
          <a:noFill/>
          <a:ln>
            <a:noFill/>
          </a:ln>
        </p:spPr>
        <p:txBody>
          <a:bodyPr anchorCtr="0" anchor="t" bIns="0" lIns="0" spcFirstLastPara="1" rIns="0" wrap="square" tIns="0">
            <a:spAutoFit/>
          </a:bodyPr>
          <a:lstStyle/>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In 2024 research revealed that disadvantaged schools have several differences and promote:</a:t>
            </a:r>
            <a:endParaRPr/>
          </a:p>
          <a:p>
            <a:pPr indent="-623146" lvl="2" marL="18694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Expedited adulthood</a:t>
            </a:r>
            <a:endParaRPr/>
          </a:p>
          <a:p>
            <a:pPr indent="-695959" lvl="3" marL="27838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An expedited timeline for students to have economic stability and self-sufficiency</a:t>
            </a:r>
            <a:endParaRPr/>
          </a:p>
          <a:p>
            <a:pPr indent="-623146" lvl="2" marL="1869438"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Minimal emphasis on college application and attendance</a:t>
            </a:r>
            <a:endParaRPr/>
          </a:p>
          <a:p>
            <a:pPr indent="-623146" lvl="2" marL="1869438" marR="0" rtl="0" algn="l">
              <a:lnSpc>
                <a:spcPct val="138013"/>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sp>
        <p:nvSpPr>
          <p:cNvPr id="179" name="Google Shape;179;p10"/>
          <p:cNvSpPr txBox="1"/>
          <p:nvPr/>
        </p:nvSpPr>
        <p:spPr>
          <a:xfrm>
            <a:off x="9669175" y="2079250"/>
            <a:ext cx="7816950" cy="5812917"/>
          </a:xfrm>
          <a:prstGeom prst="rect">
            <a:avLst/>
          </a:prstGeom>
          <a:noFill/>
          <a:ln>
            <a:noFill/>
          </a:ln>
        </p:spPr>
        <p:txBody>
          <a:bodyPr anchorCtr="0" anchor="t" bIns="0" lIns="0" spcFirstLastPara="1" rIns="0" wrap="square" tIns="0">
            <a:spAutoFit/>
          </a:bodyPr>
          <a:lstStyle/>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  “Diverse schools foster exploratory adolescence, orienting students towards open-ended and long-term educational goals. Disadvantaged schools promote expedited adulthood, an approach that prioritizes pragmatic over academic training in hopes of accelerating students’ paths to economic stability and self-sufficiency. ” -  (Advising through Adversity: Urban High Schools’ Diverging Approaches to Postsecondary Planning)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83" name="Shape 183"/>
        <p:cNvGrpSpPr/>
        <p:nvPr/>
      </p:nvGrpSpPr>
      <p:grpSpPr>
        <a:xfrm>
          <a:off x="0" y="0"/>
          <a:ext cx="0" cy="0"/>
          <a:chOff x="0" y="0"/>
          <a:chExt cx="0" cy="0"/>
        </a:xfrm>
      </p:grpSpPr>
      <p:sp>
        <p:nvSpPr>
          <p:cNvPr id="184" name="Google Shape;184;p11"/>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High School Counselor’s Lack of Support</a:t>
            </a:r>
            <a:endParaRPr/>
          </a:p>
        </p:txBody>
      </p:sp>
      <p:sp>
        <p:nvSpPr>
          <p:cNvPr id="185" name="Google Shape;185;p11"/>
          <p:cNvSpPr txBox="1"/>
          <p:nvPr/>
        </p:nvSpPr>
        <p:spPr>
          <a:xfrm>
            <a:off x="714825" y="2358275"/>
            <a:ext cx="7816950" cy="6166542"/>
          </a:xfrm>
          <a:prstGeom prst="rect">
            <a:avLst/>
          </a:prstGeom>
          <a:noFill/>
          <a:ln>
            <a:noFill/>
          </a:ln>
        </p:spPr>
        <p:txBody>
          <a:bodyPr anchorCtr="0" anchor="t" bIns="0" lIns="0" spcFirstLastPara="1" rIns="0" wrap="square" tIns="0">
            <a:spAutoFit/>
          </a:bodyPr>
          <a:lstStyle/>
          <a:p>
            <a:pPr indent="-468566" lvl="1" marL="937132" marR="0" rtl="0" algn="l">
              <a:lnSpc>
                <a:spcPct val="138005"/>
              </a:lnSpc>
              <a:spcBef>
                <a:spcPts val="0"/>
              </a:spcBef>
              <a:spcAft>
                <a:spcPts val="0"/>
              </a:spcAft>
              <a:buClr>
                <a:srgbClr val="000000"/>
              </a:buClr>
              <a:buSzPts val="2747"/>
              <a:buFont typeface="Arial"/>
              <a:buChar char="•"/>
            </a:pPr>
            <a:r>
              <a:rPr b="0" i="0" lang="en-US" sz="2747" u="none" cap="none" strike="noStrike">
                <a:solidFill>
                  <a:srgbClr val="000000"/>
                </a:solidFill>
                <a:latin typeface="Arial"/>
                <a:ea typeface="Arial"/>
                <a:cs typeface="Arial"/>
                <a:sym typeface="Arial"/>
              </a:rPr>
              <a:t>Over the years the job description of high school counselor has changed. They went from their sole purpose being college advisors to adding on the responsibilities of being an administrator and mental health advisor.</a:t>
            </a:r>
            <a:endParaRPr/>
          </a:p>
          <a:p>
            <a:pPr indent="-468566" lvl="1" marL="937132" marR="0" rtl="0" algn="l">
              <a:lnSpc>
                <a:spcPct val="138005"/>
              </a:lnSpc>
              <a:spcBef>
                <a:spcPts val="0"/>
              </a:spcBef>
              <a:spcAft>
                <a:spcPts val="0"/>
              </a:spcAft>
              <a:buClr>
                <a:srgbClr val="000000"/>
              </a:buClr>
              <a:buSzPts val="2747"/>
              <a:buFont typeface="Arial"/>
              <a:buChar char="•"/>
            </a:pPr>
            <a:r>
              <a:rPr b="0" i="0" lang="en-US" sz="2747" u="none" cap="none" strike="noStrike">
                <a:solidFill>
                  <a:srgbClr val="000000"/>
                </a:solidFill>
                <a:latin typeface="Arial"/>
                <a:ea typeface="Arial"/>
                <a:cs typeface="Arial"/>
                <a:sym typeface="Arial"/>
              </a:rPr>
              <a:t>Studies show that students that who sought out college info enrolled into a 4 yr uni but studies don’t specify were this help was coming from. </a:t>
            </a:r>
            <a:endParaRPr/>
          </a:p>
          <a:p>
            <a:pPr indent="-468566" lvl="1" marL="937132" marR="0" rtl="0" algn="l">
              <a:lnSpc>
                <a:spcPct val="138005"/>
              </a:lnSpc>
              <a:spcBef>
                <a:spcPts val="0"/>
              </a:spcBef>
              <a:spcAft>
                <a:spcPts val="0"/>
              </a:spcAft>
              <a:buClr>
                <a:srgbClr val="000000"/>
              </a:buClr>
              <a:buSzPts val="2747"/>
              <a:buFont typeface="Arial"/>
              <a:buChar char="•"/>
            </a:pPr>
            <a:r>
              <a:rPr b="0" i="0" lang="en-US" sz="2747" u="none" cap="none" strike="noStrike">
                <a:solidFill>
                  <a:srgbClr val="000000"/>
                </a:solidFill>
                <a:latin typeface="Arial"/>
                <a:ea typeface="Arial"/>
                <a:cs typeface="Arial"/>
                <a:sym typeface="Arial"/>
              </a:rPr>
              <a:t>One thing researchers have noticed a correlation between is a rigorous hs curriculum leading students to a 4 yr uni. </a:t>
            </a:r>
            <a:endParaRPr/>
          </a:p>
        </p:txBody>
      </p:sp>
      <p:sp>
        <p:nvSpPr>
          <p:cNvPr id="186" name="Google Shape;186;p11"/>
          <p:cNvSpPr txBox="1"/>
          <p:nvPr/>
        </p:nvSpPr>
        <p:spPr>
          <a:xfrm>
            <a:off x="9756225" y="2348750"/>
            <a:ext cx="7816950" cy="1926717"/>
          </a:xfrm>
          <a:prstGeom prst="rect">
            <a:avLst/>
          </a:prstGeom>
          <a:noFill/>
          <a:ln>
            <a:noFill/>
          </a:ln>
        </p:spPr>
        <p:txBody>
          <a:bodyPr anchorCtr="0" anchor="t" bIns="0" lIns="0" spcFirstLastPara="1" rIns="0" wrap="square" tIns="0">
            <a:spAutoFit/>
          </a:bodyPr>
          <a:lstStyle/>
          <a:p>
            <a:pPr indent="-477519" lvl="1" marL="955039" marR="0" rtl="0" algn="l">
              <a:lnSpc>
                <a:spcPct val="138013"/>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Students need social capital in in order to successfully matriculate from high school to college. School counselor’s can be essential to developing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190" name="Shape 190"/>
        <p:cNvGrpSpPr/>
        <p:nvPr/>
      </p:nvGrpSpPr>
      <p:grpSpPr>
        <a:xfrm>
          <a:off x="0" y="0"/>
          <a:ext cx="0" cy="0"/>
          <a:chOff x="0" y="0"/>
          <a:chExt cx="0" cy="0"/>
        </a:xfrm>
      </p:grpSpPr>
      <p:sp>
        <p:nvSpPr>
          <p:cNvPr id="191" name="Google Shape;191;p12"/>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NEXT STEPS</a:t>
            </a:r>
            <a:endParaRPr/>
          </a:p>
        </p:txBody>
      </p:sp>
      <p:sp>
        <p:nvSpPr>
          <p:cNvPr id="192" name="Google Shape;192;p12"/>
          <p:cNvSpPr/>
          <p:nvPr/>
        </p:nvSpPr>
        <p:spPr>
          <a:xfrm>
            <a:off x="4329926" y="4496226"/>
            <a:ext cx="1188529" cy="73819"/>
          </a:xfrm>
          <a:custGeom>
            <a:rect b="b" l="l" r="r" t="t"/>
            <a:pathLst>
              <a:path extrusionOk="0" h="98425" w="1584706">
                <a:moveTo>
                  <a:pt x="0" y="49149"/>
                </a:moveTo>
                <a:cubicBezTo>
                  <a:pt x="0" y="21971"/>
                  <a:pt x="21971" y="0"/>
                  <a:pt x="49149" y="0"/>
                </a:cubicBezTo>
                <a:lnTo>
                  <a:pt x="1535557" y="0"/>
                </a:lnTo>
                <a:cubicBezTo>
                  <a:pt x="1562735" y="0"/>
                  <a:pt x="1584706" y="21971"/>
                  <a:pt x="1584706" y="49149"/>
                </a:cubicBezTo>
                <a:cubicBezTo>
                  <a:pt x="1584706" y="76327"/>
                  <a:pt x="1562735" y="98298"/>
                  <a:pt x="1535557" y="98298"/>
                </a:cubicBezTo>
                <a:lnTo>
                  <a:pt x="49149" y="98298"/>
                </a:lnTo>
                <a:cubicBezTo>
                  <a:pt x="21971" y="98425"/>
                  <a:pt x="0" y="76327"/>
                  <a:pt x="0" y="49149"/>
                </a:cubicBezTo>
                <a:close/>
              </a:path>
            </a:pathLst>
          </a:custGeom>
          <a:solidFill>
            <a:srgbClr val="14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2"/>
          <p:cNvSpPr/>
          <p:nvPr/>
        </p:nvSpPr>
        <p:spPr>
          <a:xfrm>
            <a:off x="2244722" y="3080700"/>
            <a:ext cx="1264729" cy="1264825"/>
          </a:xfrm>
          <a:custGeom>
            <a:rect b="b" l="l" r="r" t="t"/>
            <a:pathLst>
              <a:path extrusionOk="0" h="1686433" w="1686306">
                <a:moveTo>
                  <a:pt x="0" y="843153"/>
                </a:moveTo>
                <a:cubicBezTo>
                  <a:pt x="0" y="377571"/>
                  <a:pt x="377571" y="0"/>
                  <a:pt x="843153" y="0"/>
                </a:cubicBezTo>
                <a:lnTo>
                  <a:pt x="843153" y="50800"/>
                </a:lnTo>
                <a:lnTo>
                  <a:pt x="843153" y="0"/>
                </a:lnTo>
                <a:cubicBezTo>
                  <a:pt x="1308862" y="0"/>
                  <a:pt x="1686306" y="377571"/>
                  <a:pt x="1686306" y="843153"/>
                </a:cubicBezTo>
                <a:lnTo>
                  <a:pt x="1635506" y="843153"/>
                </a:lnTo>
                <a:lnTo>
                  <a:pt x="1686306" y="843153"/>
                </a:lnTo>
                <a:cubicBezTo>
                  <a:pt x="1686306" y="1308862"/>
                  <a:pt x="1308735" y="1686306"/>
                  <a:pt x="843153" y="1686306"/>
                </a:cubicBezTo>
                <a:lnTo>
                  <a:pt x="843153" y="1635506"/>
                </a:lnTo>
                <a:lnTo>
                  <a:pt x="843153" y="1686306"/>
                </a:lnTo>
                <a:cubicBezTo>
                  <a:pt x="377571" y="1686433"/>
                  <a:pt x="0" y="1308862"/>
                  <a:pt x="0" y="843153"/>
                </a:cubicBezTo>
                <a:lnTo>
                  <a:pt x="50800" y="843153"/>
                </a:lnTo>
                <a:lnTo>
                  <a:pt x="94488" y="869061"/>
                </a:lnTo>
                <a:cubicBezTo>
                  <a:pt x="82804" y="888746"/>
                  <a:pt x="59436" y="898144"/>
                  <a:pt x="37338" y="892175"/>
                </a:cubicBezTo>
                <a:cubicBezTo>
                  <a:pt x="15240" y="886206"/>
                  <a:pt x="0" y="866140"/>
                  <a:pt x="0" y="843153"/>
                </a:cubicBezTo>
                <a:moveTo>
                  <a:pt x="101600" y="843153"/>
                </a:moveTo>
                <a:lnTo>
                  <a:pt x="50800" y="843153"/>
                </a:lnTo>
                <a:lnTo>
                  <a:pt x="7112" y="817245"/>
                </a:lnTo>
                <a:cubicBezTo>
                  <a:pt x="18796" y="797560"/>
                  <a:pt x="42164" y="788162"/>
                  <a:pt x="64262" y="794131"/>
                </a:cubicBezTo>
                <a:cubicBezTo>
                  <a:pt x="86360" y="800100"/>
                  <a:pt x="101600" y="820293"/>
                  <a:pt x="101600" y="843153"/>
                </a:cubicBezTo>
                <a:cubicBezTo>
                  <a:pt x="101600" y="1252728"/>
                  <a:pt x="433578" y="1584706"/>
                  <a:pt x="843153" y="1584706"/>
                </a:cubicBezTo>
                <a:cubicBezTo>
                  <a:pt x="1252728" y="1584706"/>
                  <a:pt x="1584706" y="1252728"/>
                  <a:pt x="1584706" y="843153"/>
                </a:cubicBezTo>
                <a:cubicBezTo>
                  <a:pt x="1584706" y="433578"/>
                  <a:pt x="1252728" y="101600"/>
                  <a:pt x="843153" y="101600"/>
                </a:cubicBezTo>
                <a:lnTo>
                  <a:pt x="843153" y="50800"/>
                </a:lnTo>
                <a:lnTo>
                  <a:pt x="843153" y="101600"/>
                </a:lnTo>
                <a:cubicBezTo>
                  <a:pt x="433578" y="101600"/>
                  <a:pt x="101600" y="433578"/>
                  <a:pt x="101600" y="843153"/>
                </a:cubicBezTo>
                <a:close/>
              </a:path>
            </a:pathLst>
          </a:custGeom>
          <a:solidFill>
            <a:srgbClr val="14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2"/>
          <p:cNvSpPr txBox="1"/>
          <p:nvPr/>
        </p:nvSpPr>
        <p:spPr>
          <a:xfrm>
            <a:off x="1259451" y="4291405"/>
            <a:ext cx="3235350" cy="1036320"/>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0" i="0" lang="en-US" sz="3000" u="none" cap="none" strike="noStrike">
                <a:solidFill>
                  <a:srgbClr val="000000"/>
                </a:solidFill>
                <a:latin typeface="DM Sans"/>
                <a:ea typeface="DM Sans"/>
                <a:cs typeface="DM Sans"/>
                <a:sym typeface="DM Sans"/>
              </a:rPr>
              <a:t>Target Demographic</a:t>
            </a:r>
            <a:endParaRPr/>
          </a:p>
        </p:txBody>
      </p:sp>
      <p:sp>
        <p:nvSpPr>
          <p:cNvPr id="195" name="Google Shape;195;p12"/>
          <p:cNvSpPr txBox="1"/>
          <p:nvPr/>
        </p:nvSpPr>
        <p:spPr>
          <a:xfrm>
            <a:off x="1213547" y="5483754"/>
            <a:ext cx="3327150" cy="2133600"/>
          </a:xfrm>
          <a:prstGeom prst="rect">
            <a:avLst/>
          </a:prstGeom>
          <a:noFill/>
          <a:ln>
            <a:noFill/>
          </a:ln>
        </p:spPr>
        <p:txBody>
          <a:bodyPr anchorCtr="0" anchor="t" bIns="0" lIns="0" spcFirstLastPara="1" rIns="0" wrap="square" tIns="0">
            <a:spAutoFit/>
          </a:bodyPr>
          <a:lstStyle/>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Potential first generation African-American students in US</a:t>
            </a:r>
            <a:endParaRPr/>
          </a:p>
        </p:txBody>
      </p:sp>
      <p:sp>
        <p:nvSpPr>
          <p:cNvPr id="196" name="Google Shape;196;p12"/>
          <p:cNvSpPr/>
          <p:nvPr/>
        </p:nvSpPr>
        <p:spPr>
          <a:xfrm>
            <a:off x="6517396" y="3080700"/>
            <a:ext cx="1264730" cy="1264825"/>
          </a:xfrm>
          <a:custGeom>
            <a:rect b="b" l="l" r="r" t="t"/>
            <a:pathLst>
              <a:path extrusionOk="0" h="1686433" w="1686306">
                <a:moveTo>
                  <a:pt x="0" y="843153"/>
                </a:moveTo>
                <a:cubicBezTo>
                  <a:pt x="0" y="377571"/>
                  <a:pt x="377571" y="0"/>
                  <a:pt x="843153" y="0"/>
                </a:cubicBezTo>
                <a:lnTo>
                  <a:pt x="843153" y="50800"/>
                </a:lnTo>
                <a:lnTo>
                  <a:pt x="843153" y="0"/>
                </a:lnTo>
                <a:cubicBezTo>
                  <a:pt x="1308862" y="0"/>
                  <a:pt x="1686306" y="377571"/>
                  <a:pt x="1686306" y="843153"/>
                </a:cubicBezTo>
                <a:lnTo>
                  <a:pt x="1635506" y="843153"/>
                </a:lnTo>
                <a:lnTo>
                  <a:pt x="1686306" y="843153"/>
                </a:lnTo>
                <a:cubicBezTo>
                  <a:pt x="1686306" y="1308862"/>
                  <a:pt x="1308735" y="1686306"/>
                  <a:pt x="843153" y="1686306"/>
                </a:cubicBezTo>
                <a:lnTo>
                  <a:pt x="843153" y="1635506"/>
                </a:lnTo>
                <a:lnTo>
                  <a:pt x="843153" y="1686306"/>
                </a:lnTo>
                <a:cubicBezTo>
                  <a:pt x="377571" y="1686433"/>
                  <a:pt x="0" y="1308862"/>
                  <a:pt x="0" y="843153"/>
                </a:cubicBezTo>
                <a:lnTo>
                  <a:pt x="50800" y="843153"/>
                </a:lnTo>
                <a:lnTo>
                  <a:pt x="94488" y="869061"/>
                </a:lnTo>
                <a:cubicBezTo>
                  <a:pt x="82804" y="888746"/>
                  <a:pt x="59436" y="898144"/>
                  <a:pt x="37338" y="892175"/>
                </a:cubicBezTo>
                <a:cubicBezTo>
                  <a:pt x="15240" y="886206"/>
                  <a:pt x="0" y="866140"/>
                  <a:pt x="0" y="843153"/>
                </a:cubicBezTo>
                <a:moveTo>
                  <a:pt x="101600" y="843153"/>
                </a:moveTo>
                <a:lnTo>
                  <a:pt x="50800" y="843153"/>
                </a:lnTo>
                <a:lnTo>
                  <a:pt x="7112" y="817245"/>
                </a:lnTo>
                <a:cubicBezTo>
                  <a:pt x="18796" y="797560"/>
                  <a:pt x="42164" y="788162"/>
                  <a:pt x="64262" y="794131"/>
                </a:cubicBezTo>
                <a:cubicBezTo>
                  <a:pt x="86360" y="800100"/>
                  <a:pt x="101600" y="820293"/>
                  <a:pt x="101600" y="843153"/>
                </a:cubicBezTo>
                <a:cubicBezTo>
                  <a:pt x="101600" y="1252728"/>
                  <a:pt x="433578" y="1584706"/>
                  <a:pt x="843153" y="1584706"/>
                </a:cubicBezTo>
                <a:cubicBezTo>
                  <a:pt x="1252728" y="1584706"/>
                  <a:pt x="1584706" y="1252728"/>
                  <a:pt x="1584706" y="843153"/>
                </a:cubicBezTo>
                <a:cubicBezTo>
                  <a:pt x="1584706" y="433578"/>
                  <a:pt x="1252728" y="101600"/>
                  <a:pt x="843153" y="101600"/>
                </a:cubicBezTo>
                <a:lnTo>
                  <a:pt x="843153" y="50800"/>
                </a:lnTo>
                <a:lnTo>
                  <a:pt x="843153" y="101600"/>
                </a:lnTo>
                <a:cubicBezTo>
                  <a:pt x="433578" y="101600"/>
                  <a:pt x="101600" y="433578"/>
                  <a:pt x="101600" y="843153"/>
                </a:cubicBezTo>
                <a:close/>
              </a:path>
            </a:pathLst>
          </a:custGeom>
          <a:solidFill>
            <a:srgbClr val="14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
          <p:cNvSpPr txBox="1"/>
          <p:nvPr/>
        </p:nvSpPr>
        <p:spPr>
          <a:xfrm>
            <a:off x="5532125" y="4300930"/>
            <a:ext cx="3235350" cy="1026795"/>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0" i="0" lang="en-US" sz="3000" u="none" cap="none" strike="noStrike">
                <a:solidFill>
                  <a:srgbClr val="000000"/>
                </a:solidFill>
                <a:latin typeface="Arial"/>
                <a:ea typeface="Arial"/>
                <a:cs typeface="Arial"/>
                <a:sym typeface="Arial"/>
              </a:rPr>
              <a:t>Identified Problems</a:t>
            </a:r>
            <a:endParaRPr/>
          </a:p>
        </p:txBody>
      </p:sp>
      <p:sp>
        <p:nvSpPr>
          <p:cNvPr id="198" name="Google Shape;198;p12"/>
          <p:cNvSpPr txBox="1"/>
          <p:nvPr/>
        </p:nvSpPr>
        <p:spPr>
          <a:xfrm>
            <a:off x="5266325" y="5483750"/>
            <a:ext cx="3982950" cy="2990850"/>
          </a:xfrm>
          <a:prstGeom prst="rect">
            <a:avLst/>
          </a:prstGeom>
          <a:noFill/>
          <a:ln>
            <a:noFill/>
          </a:ln>
        </p:spPr>
        <p:txBody>
          <a:bodyPr anchorCtr="0" anchor="t" bIns="0" lIns="0" spcFirstLastPara="1" rIns="0" wrap="square" tIns="0">
            <a:spAutoFit/>
          </a:bodyPr>
          <a:lstStyle/>
          <a:p>
            <a:pPr indent="-476250" lvl="1" marL="952500"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Lack of Support </a:t>
            </a:r>
            <a:endParaRPr/>
          </a:p>
          <a:p>
            <a:pPr indent="-656166" lvl="2" marL="196849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From parents</a:t>
            </a:r>
            <a:endParaRPr/>
          </a:p>
          <a:p>
            <a:pPr indent="-656166" lvl="2" marL="196849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From school</a:t>
            </a:r>
            <a:endParaRPr/>
          </a:p>
          <a:p>
            <a:pPr indent="-476250" lvl="1" marL="952500"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Understand the perceptions of college</a:t>
            </a:r>
            <a:endParaRPr/>
          </a:p>
        </p:txBody>
      </p:sp>
      <p:sp>
        <p:nvSpPr>
          <p:cNvPr id="199" name="Google Shape;199;p12"/>
          <p:cNvSpPr/>
          <p:nvPr/>
        </p:nvSpPr>
        <p:spPr>
          <a:xfrm>
            <a:off x="10618616" y="3080676"/>
            <a:ext cx="1264729" cy="1264825"/>
          </a:xfrm>
          <a:custGeom>
            <a:rect b="b" l="l" r="r" t="t"/>
            <a:pathLst>
              <a:path extrusionOk="0" h="1686433" w="1686306">
                <a:moveTo>
                  <a:pt x="0" y="843153"/>
                </a:moveTo>
                <a:cubicBezTo>
                  <a:pt x="0" y="377571"/>
                  <a:pt x="377571" y="0"/>
                  <a:pt x="843153" y="0"/>
                </a:cubicBezTo>
                <a:lnTo>
                  <a:pt x="843153" y="50800"/>
                </a:lnTo>
                <a:lnTo>
                  <a:pt x="843153" y="0"/>
                </a:lnTo>
                <a:cubicBezTo>
                  <a:pt x="1308862" y="0"/>
                  <a:pt x="1686306" y="377571"/>
                  <a:pt x="1686306" y="843153"/>
                </a:cubicBezTo>
                <a:lnTo>
                  <a:pt x="1635506" y="843153"/>
                </a:lnTo>
                <a:lnTo>
                  <a:pt x="1686306" y="843153"/>
                </a:lnTo>
                <a:cubicBezTo>
                  <a:pt x="1686306" y="1308862"/>
                  <a:pt x="1308735" y="1686306"/>
                  <a:pt x="843153" y="1686306"/>
                </a:cubicBezTo>
                <a:lnTo>
                  <a:pt x="843153" y="1635506"/>
                </a:lnTo>
                <a:lnTo>
                  <a:pt x="843153" y="1686306"/>
                </a:lnTo>
                <a:cubicBezTo>
                  <a:pt x="377571" y="1686433"/>
                  <a:pt x="0" y="1308862"/>
                  <a:pt x="0" y="843153"/>
                </a:cubicBezTo>
                <a:lnTo>
                  <a:pt x="50800" y="843153"/>
                </a:lnTo>
                <a:lnTo>
                  <a:pt x="94488" y="869061"/>
                </a:lnTo>
                <a:cubicBezTo>
                  <a:pt x="82804" y="888746"/>
                  <a:pt x="59436" y="898144"/>
                  <a:pt x="37338" y="892175"/>
                </a:cubicBezTo>
                <a:cubicBezTo>
                  <a:pt x="15240" y="886206"/>
                  <a:pt x="0" y="866140"/>
                  <a:pt x="0" y="843153"/>
                </a:cubicBezTo>
                <a:moveTo>
                  <a:pt x="101600" y="843153"/>
                </a:moveTo>
                <a:lnTo>
                  <a:pt x="50800" y="843153"/>
                </a:lnTo>
                <a:lnTo>
                  <a:pt x="7112" y="817245"/>
                </a:lnTo>
                <a:cubicBezTo>
                  <a:pt x="18796" y="797560"/>
                  <a:pt x="42164" y="788162"/>
                  <a:pt x="64262" y="794131"/>
                </a:cubicBezTo>
                <a:cubicBezTo>
                  <a:pt x="86360" y="800100"/>
                  <a:pt x="101600" y="820293"/>
                  <a:pt x="101600" y="843153"/>
                </a:cubicBezTo>
                <a:cubicBezTo>
                  <a:pt x="101600" y="1252728"/>
                  <a:pt x="433578" y="1584706"/>
                  <a:pt x="843153" y="1584706"/>
                </a:cubicBezTo>
                <a:cubicBezTo>
                  <a:pt x="1252728" y="1584706"/>
                  <a:pt x="1584706" y="1252728"/>
                  <a:pt x="1584706" y="843153"/>
                </a:cubicBezTo>
                <a:cubicBezTo>
                  <a:pt x="1584706" y="433578"/>
                  <a:pt x="1252728" y="101600"/>
                  <a:pt x="843153" y="101600"/>
                </a:cubicBezTo>
                <a:lnTo>
                  <a:pt x="843153" y="50800"/>
                </a:lnTo>
                <a:lnTo>
                  <a:pt x="843153" y="101600"/>
                </a:lnTo>
                <a:cubicBezTo>
                  <a:pt x="433578" y="101600"/>
                  <a:pt x="101600" y="433578"/>
                  <a:pt x="101600" y="843153"/>
                </a:cubicBezTo>
                <a:close/>
              </a:path>
            </a:pathLst>
          </a:custGeom>
          <a:solidFill>
            <a:srgbClr val="14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
          <p:cNvSpPr txBox="1"/>
          <p:nvPr/>
        </p:nvSpPr>
        <p:spPr>
          <a:xfrm>
            <a:off x="9633341" y="4335220"/>
            <a:ext cx="3235350" cy="502920"/>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0" i="0" lang="en-US" sz="3000" u="none" cap="none" strike="noStrike">
                <a:solidFill>
                  <a:srgbClr val="000000"/>
                </a:solidFill>
                <a:latin typeface="Arial"/>
                <a:ea typeface="Arial"/>
                <a:cs typeface="Arial"/>
                <a:sym typeface="Arial"/>
              </a:rPr>
              <a:t>Question</a:t>
            </a:r>
            <a:endParaRPr/>
          </a:p>
        </p:txBody>
      </p:sp>
      <p:sp>
        <p:nvSpPr>
          <p:cNvPr id="201" name="Google Shape;201;p12"/>
          <p:cNvSpPr txBox="1"/>
          <p:nvPr/>
        </p:nvSpPr>
        <p:spPr>
          <a:xfrm>
            <a:off x="9633341" y="5483726"/>
            <a:ext cx="3235350" cy="2990850"/>
          </a:xfrm>
          <a:prstGeom prst="rect">
            <a:avLst/>
          </a:prstGeom>
          <a:noFill/>
          <a:ln>
            <a:noFill/>
          </a:ln>
        </p:spPr>
        <p:txBody>
          <a:bodyPr anchorCtr="0" anchor="t" bIns="0" lIns="0" spcFirstLastPara="1" rIns="0" wrap="square" tIns="0">
            <a:spAutoFit/>
          </a:bodyPr>
          <a:lstStyle/>
          <a:p>
            <a:pPr indent="0" lvl="0" marL="0" marR="0" rtl="0" algn="ctr">
              <a:lnSpc>
                <a:spcPct val="138015"/>
              </a:lnSpc>
              <a:spcBef>
                <a:spcPts val="0"/>
              </a:spcBef>
              <a:spcAft>
                <a:spcPts val="0"/>
              </a:spcAft>
              <a:buNone/>
            </a:pPr>
            <a:r>
              <a:rPr b="0" i="0" lang="en-US" sz="2499" u="none" cap="none" strike="noStrike">
                <a:solidFill>
                  <a:srgbClr val="000000"/>
                </a:solidFill>
                <a:latin typeface="Arial"/>
                <a:ea typeface="Arial"/>
                <a:cs typeface="Arial"/>
                <a:sym typeface="Arial"/>
              </a:rPr>
              <a:t>Are the existing resources in high schools effective in increasing African American students applying for colleges?</a:t>
            </a:r>
            <a:endParaRPr/>
          </a:p>
        </p:txBody>
      </p:sp>
      <p:sp>
        <p:nvSpPr>
          <p:cNvPr id="202" name="Google Shape;202;p12"/>
          <p:cNvSpPr/>
          <p:nvPr/>
        </p:nvSpPr>
        <p:spPr>
          <a:xfrm>
            <a:off x="14981972" y="3080676"/>
            <a:ext cx="1264730" cy="1264825"/>
          </a:xfrm>
          <a:custGeom>
            <a:rect b="b" l="l" r="r" t="t"/>
            <a:pathLst>
              <a:path extrusionOk="0" h="1686433" w="1686306">
                <a:moveTo>
                  <a:pt x="0" y="843153"/>
                </a:moveTo>
                <a:cubicBezTo>
                  <a:pt x="0" y="377571"/>
                  <a:pt x="377571" y="0"/>
                  <a:pt x="843153" y="0"/>
                </a:cubicBezTo>
                <a:lnTo>
                  <a:pt x="843153" y="50800"/>
                </a:lnTo>
                <a:lnTo>
                  <a:pt x="843153" y="0"/>
                </a:lnTo>
                <a:cubicBezTo>
                  <a:pt x="1308862" y="0"/>
                  <a:pt x="1686306" y="377571"/>
                  <a:pt x="1686306" y="843153"/>
                </a:cubicBezTo>
                <a:lnTo>
                  <a:pt x="1635506" y="843153"/>
                </a:lnTo>
                <a:lnTo>
                  <a:pt x="1686306" y="843153"/>
                </a:lnTo>
                <a:cubicBezTo>
                  <a:pt x="1686306" y="1308862"/>
                  <a:pt x="1308735" y="1686306"/>
                  <a:pt x="843153" y="1686306"/>
                </a:cubicBezTo>
                <a:lnTo>
                  <a:pt x="843153" y="1635506"/>
                </a:lnTo>
                <a:lnTo>
                  <a:pt x="843153" y="1686306"/>
                </a:lnTo>
                <a:cubicBezTo>
                  <a:pt x="377571" y="1686433"/>
                  <a:pt x="0" y="1308862"/>
                  <a:pt x="0" y="843153"/>
                </a:cubicBezTo>
                <a:lnTo>
                  <a:pt x="50800" y="843153"/>
                </a:lnTo>
                <a:lnTo>
                  <a:pt x="94488" y="869061"/>
                </a:lnTo>
                <a:cubicBezTo>
                  <a:pt x="82804" y="888746"/>
                  <a:pt x="59436" y="898144"/>
                  <a:pt x="37338" y="892175"/>
                </a:cubicBezTo>
                <a:cubicBezTo>
                  <a:pt x="15240" y="886206"/>
                  <a:pt x="0" y="866140"/>
                  <a:pt x="0" y="843153"/>
                </a:cubicBezTo>
                <a:moveTo>
                  <a:pt x="101600" y="843153"/>
                </a:moveTo>
                <a:lnTo>
                  <a:pt x="50800" y="843153"/>
                </a:lnTo>
                <a:lnTo>
                  <a:pt x="7112" y="817245"/>
                </a:lnTo>
                <a:cubicBezTo>
                  <a:pt x="18796" y="797560"/>
                  <a:pt x="42164" y="788162"/>
                  <a:pt x="64262" y="794131"/>
                </a:cubicBezTo>
                <a:cubicBezTo>
                  <a:pt x="86360" y="800100"/>
                  <a:pt x="101600" y="820293"/>
                  <a:pt x="101600" y="843153"/>
                </a:cubicBezTo>
                <a:cubicBezTo>
                  <a:pt x="101600" y="1252728"/>
                  <a:pt x="433578" y="1584706"/>
                  <a:pt x="843153" y="1584706"/>
                </a:cubicBezTo>
                <a:cubicBezTo>
                  <a:pt x="1252728" y="1584706"/>
                  <a:pt x="1584706" y="1252728"/>
                  <a:pt x="1584706" y="843153"/>
                </a:cubicBezTo>
                <a:cubicBezTo>
                  <a:pt x="1584706" y="433578"/>
                  <a:pt x="1252728" y="101600"/>
                  <a:pt x="843153" y="101600"/>
                </a:cubicBezTo>
                <a:lnTo>
                  <a:pt x="843153" y="50800"/>
                </a:lnTo>
                <a:lnTo>
                  <a:pt x="843153" y="101600"/>
                </a:lnTo>
                <a:cubicBezTo>
                  <a:pt x="433578" y="101600"/>
                  <a:pt x="101600" y="433578"/>
                  <a:pt x="101600" y="843153"/>
                </a:cubicBezTo>
                <a:close/>
              </a:path>
            </a:pathLst>
          </a:custGeom>
          <a:solidFill>
            <a:srgbClr val="14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
          <p:cNvSpPr txBox="1"/>
          <p:nvPr/>
        </p:nvSpPr>
        <p:spPr>
          <a:xfrm>
            <a:off x="13996651" y="4300906"/>
            <a:ext cx="3235350" cy="1026795"/>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None/>
            </a:pPr>
            <a:r>
              <a:rPr b="0" i="0" lang="en-US" sz="3000" u="none" cap="none" strike="noStrike">
                <a:solidFill>
                  <a:srgbClr val="000000"/>
                </a:solidFill>
                <a:latin typeface="Arial"/>
                <a:ea typeface="Arial"/>
                <a:cs typeface="Arial"/>
                <a:sym typeface="Arial"/>
              </a:rPr>
              <a:t>Data Collection Methods:</a:t>
            </a:r>
            <a:endParaRPr/>
          </a:p>
        </p:txBody>
      </p:sp>
      <p:sp>
        <p:nvSpPr>
          <p:cNvPr id="204" name="Google Shape;204;p12"/>
          <p:cNvSpPr txBox="1"/>
          <p:nvPr/>
        </p:nvSpPr>
        <p:spPr>
          <a:xfrm>
            <a:off x="13996625" y="5483726"/>
            <a:ext cx="3982950" cy="4705350"/>
          </a:xfrm>
          <a:prstGeom prst="rect">
            <a:avLst/>
          </a:prstGeom>
          <a:noFill/>
          <a:ln>
            <a:noFill/>
          </a:ln>
        </p:spPr>
        <p:txBody>
          <a:bodyPr anchorCtr="0" anchor="t" bIns="0" lIns="0" spcFirstLastPara="1" rIns="0" wrap="square" tIns="0">
            <a:spAutoFit/>
          </a:bodyPr>
          <a:lstStyle/>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Surveying Seniors in high school</a:t>
            </a:r>
            <a:endParaRPr/>
          </a:p>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Interviewing college admission faculty</a:t>
            </a:r>
            <a:endParaRPr/>
          </a:p>
          <a:p>
            <a:pPr indent="-460375" lvl="1" marL="920749" marR="0" rtl="0" algn="l">
              <a:lnSpc>
                <a:spcPct val="138015"/>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Collecting quantitative data from existing resource organizations</a:t>
            </a:r>
            <a:endParaRPr/>
          </a:p>
          <a:p>
            <a:pPr indent="-460375" lvl="1" marL="920749" marR="0" rtl="0" algn="l">
              <a:lnSpc>
                <a:spcPct val="138015"/>
              </a:lnSpc>
              <a:spcBef>
                <a:spcPts val="0"/>
              </a:spcBef>
              <a:spcAft>
                <a:spcPts val="0"/>
              </a:spcAft>
              <a:buNone/>
            </a:pPr>
            <a:r>
              <a:t/>
            </a:r>
            <a:endParaRPr b="0" i="0" sz="2499" u="none" cap="none" strike="noStrike">
              <a:solidFill>
                <a:srgbClr val="000000"/>
              </a:solidFill>
              <a:latin typeface="Arial"/>
              <a:ea typeface="Arial"/>
              <a:cs typeface="Arial"/>
              <a:sym typeface="Arial"/>
            </a:endParaRPr>
          </a:p>
        </p:txBody>
      </p:sp>
      <p:sp>
        <p:nvSpPr>
          <p:cNvPr id="205" name="Google Shape;205;p12"/>
          <p:cNvSpPr/>
          <p:nvPr/>
        </p:nvSpPr>
        <p:spPr>
          <a:xfrm>
            <a:off x="8674350" y="4496226"/>
            <a:ext cx="1188529" cy="73819"/>
          </a:xfrm>
          <a:custGeom>
            <a:rect b="b" l="l" r="r" t="t"/>
            <a:pathLst>
              <a:path extrusionOk="0" h="98425" w="1584706">
                <a:moveTo>
                  <a:pt x="0" y="49149"/>
                </a:moveTo>
                <a:cubicBezTo>
                  <a:pt x="0" y="21971"/>
                  <a:pt x="21971" y="0"/>
                  <a:pt x="49149" y="0"/>
                </a:cubicBezTo>
                <a:lnTo>
                  <a:pt x="1535557" y="0"/>
                </a:lnTo>
                <a:cubicBezTo>
                  <a:pt x="1562735" y="0"/>
                  <a:pt x="1584706" y="21971"/>
                  <a:pt x="1584706" y="49149"/>
                </a:cubicBezTo>
                <a:cubicBezTo>
                  <a:pt x="1584706" y="76327"/>
                  <a:pt x="1562735" y="98298"/>
                  <a:pt x="1535557" y="98298"/>
                </a:cubicBezTo>
                <a:lnTo>
                  <a:pt x="49149" y="98298"/>
                </a:lnTo>
                <a:cubicBezTo>
                  <a:pt x="21971" y="98425"/>
                  <a:pt x="0" y="76327"/>
                  <a:pt x="0" y="49149"/>
                </a:cubicBezTo>
                <a:close/>
              </a:path>
            </a:pathLst>
          </a:custGeom>
          <a:solidFill>
            <a:srgbClr val="14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12838300" y="4496226"/>
            <a:ext cx="1188530" cy="73819"/>
          </a:xfrm>
          <a:custGeom>
            <a:rect b="b" l="l" r="r" t="t"/>
            <a:pathLst>
              <a:path extrusionOk="0" h="98425" w="1584706">
                <a:moveTo>
                  <a:pt x="0" y="49149"/>
                </a:moveTo>
                <a:cubicBezTo>
                  <a:pt x="0" y="21971"/>
                  <a:pt x="21971" y="0"/>
                  <a:pt x="49149" y="0"/>
                </a:cubicBezTo>
                <a:lnTo>
                  <a:pt x="1535557" y="0"/>
                </a:lnTo>
                <a:cubicBezTo>
                  <a:pt x="1562735" y="0"/>
                  <a:pt x="1584706" y="21971"/>
                  <a:pt x="1584706" y="49149"/>
                </a:cubicBezTo>
                <a:cubicBezTo>
                  <a:pt x="1584706" y="76327"/>
                  <a:pt x="1562735" y="98298"/>
                  <a:pt x="1535557" y="98298"/>
                </a:cubicBezTo>
                <a:lnTo>
                  <a:pt x="49149" y="98298"/>
                </a:lnTo>
                <a:cubicBezTo>
                  <a:pt x="21971" y="98425"/>
                  <a:pt x="0" y="76327"/>
                  <a:pt x="0" y="49149"/>
                </a:cubicBezTo>
                <a:close/>
              </a:path>
            </a:pathLst>
          </a:custGeom>
          <a:solidFill>
            <a:srgbClr val="14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3CD"/>
        </a:solidFill>
      </p:bgPr>
    </p:bg>
    <p:spTree>
      <p:nvGrpSpPr>
        <p:cNvPr id="210" name="Shape 210"/>
        <p:cNvGrpSpPr/>
        <p:nvPr/>
      </p:nvGrpSpPr>
      <p:grpSpPr>
        <a:xfrm>
          <a:off x="0" y="0"/>
          <a:ext cx="0" cy="0"/>
          <a:chOff x="0" y="0"/>
          <a:chExt cx="0" cy="0"/>
        </a:xfrm>
      </p:grpSpPr>
      <p:sp>
        <p:nvSpPr>
          <p:cNvPr id="211" name="Google Shape;211;p13"/>
          <p:cNvSpPr txBox="1"/>
          <p:nvPr/>
        </p:nvSpPr>
        <p:spPr>
          <a:xfrm>
            <a:off x="714825" y="981475"/>
            <a:ext cx="16858350" cy="76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5040" u="none" cap="none" strike="noStrike">
                <a:solidFill>
                  <a:srgbClr val="000000"/>
                </a:solidFill>
                <a:latin typeface="Play"/>
                <a:ea typeface="Play"/>
                <a:cs typeface="Play"/>
                <a:sym typeface="Play"/>
              </a:rPr>
              <a:t>Conclusion:</a:t>
            </a:r>
            <a:endParaRPr/>
          </a:p>
        </p:txBody>
      </p:sp>
      <p:sp>
        <p:nvSpPr>
          <p:cNvPr id="212" name="Google Shape;212;p13"/>
          <p:cNvSpPr/>
          <p:nvPr/>
        </p:nvSpPr>
        <p:spPr>
          <a:xfrm>
            <a:off x="6947786" y="3855142"/>
            <a:ext cx="520732" cy="520732"/>
          </a:xfrm>
          <a:custGeom>
            <a:rect b="b" l="l" r="r" t="t"/>
            <a:pathLst>
              <a:path extrusionOk="0" h="520732" w="520732">
                <a:moveTo>
                  <a:pt x="0" y="0"/>
                </a:moveTo>
                <a:lnTo>
                  <a:pt x="520732" y="0"/>
                </a:lnTo>
                <a:lnTo>
                  <a:pt x="520732" y="520732"/>
                </a:lnTo>
                <a:lnTo>
                  <a:pt x="0" y="520732"/>
                </a:lnTo>
                <a:lnTo>
                  <a:pt x="0" y="0"/>
                </a:lnTo>
                <a:close/>
              </a:path>
            </a:pathLst>
          </a:custGeom>
          <a:blipFill rotWithShape="1">
            <a:blip r:embed="rId3">
              <a:alphaModFix/>
            </a:blip>
            <a:stretch>
              <a:fillRect b="0" l="0" r="0" t="0"/>
            </a:stretch>
          </a:blipFill>
          <a:ln>
            <a:noFill/>
          </a:ln>
        </p:spPr>
      </p:sp>
      <p:sp>
        <p:nvSpPr>
          <p:cNvPr id="213" name="Google Shape;213;p13"/>
          <p:cNvSpPr/>
          <p:nvPr/>
        </p:nvSpPr>
        <p:spPr>
          <a:xfrm>
            <a:off x="10826104" y="3855142"/>
            <a:ext cx="520732" cy="520732"/>
          </a:xfrm>
          <a:custGeom>
            <a:rect b="b" l="l" r="r" t="t"/>
            <a:pathLst>
              <a:path extrusionOk="0" h="520732" w="520732">
                <a:moveTo>
                  <a:pt x="0" y="0"/>
                </a:moveTo>
                <a:lnTo>
                  <a:pt x="520732" y="0"/>
                </a:lnTo>
                <a:lnTo>
                  <a:pt x="520732" y="520732"/>
                </a:lnTo>
                <a:lnTo>
                  <a:pt x="0" y="520732"/>
                </a:lnTo>
                <a:lnTo>
                  <a:pt x="0" y="0"/>
                </a:lnTo>
                <a:close/>
              </a:path>
            </a:pathLst>
          </a:custGeom>
          <a:blipFill rotWithShape="1">
            <a:blip r:embed="rId3">
              <a:alphaModFix/>
            </a:blip>
            <a:stretch>
              <a:fillRect b="0" l="0" r="0" t="0"/>
            </a:stretch>
          </a:blipFill>
          <a:ln>
            <a:noFill/>
          </a:ln>
        </p:spPr>
      </p:sp>
      <p:sp>
        <p:nvSpPr>
          <p:cNvPr id="214" name="Google Shape;214;p13"/>
          <p:cNvSpPr/>
          <p:nvPr/>
        </p:nvSpPr>
        <p:spPr>
          <a:xfrm>
            <a:off x="7591336" y="4395542"/>
            <a:ext cx="520732" cy="520732"/>
          </a:xfrm>
          <a:custGeom>
            <a:rect b="b" l="l" r="r" t="t"/>
            <a:pathLst>
              <a:path extrusionOk="0" h="520732" w="520732">
                <a:moveTo>
                  <a:pt x="0" y="0"/>
                </a:moveTo>
                <a:lnTo>
                  <a:pt x="520732" y="0"/>
                </a:lnTo>
                <a:lnTo>
                  <a:pt x="520732" y="520732"/>
                </a:lnTo>
                <a:lnTo>
                  <a:pt x="0" y="520732"/>
                </a:lnTo>
                <a:lnTo>
                  <a:pt x="0" y="0"/>
                </a:lnTo>
                <a:close/>
              </a:path>
            </a:pathLst>
          </a:custGeom>
          <a:blipFill rotWithShape="1">
            <a:blip r:embed="rId4">
              <a:alphaModFix/>
            </a:blip>
            <a:stretch>
              <a:fillRect b="0" l="0" r="0" t="0"/>
            </a:stretch>
          </a:blipFill>
          <a:ln>
            <a:noFill/>
          </a:ln>
        </p:spPr>
      </p:sp>
      <p:sp>
        <p:nvSpPr>
          <p:cNvPr id="215" name="Google Shape;215;p13"/>
          <p:cNvSpPr/>
          <p:nvPr/>
        </p:nvSpPr>
        <p:spPr>
          <a:xfrm>
            <a:off x="11524854" y="4395542"/>
            <a:ext cx="520732" cy="520732"/>
          </a:xfrm>
          <a:custGeom>
            <a:rect b="b" l="l" r="r" t="t"/>
            <a:pathLst>
              <a:path extrusionOk="0" h="520732" w="520732">
                <a:moveTo>
                  <a:pt x="0" y="0"/>
                </a:moveTo>
                <a:lnTo>
                  <a:pt x="520732" y="0"/>
                </a:lnTo>
                <a:lnTo>
                  <a:pt x="520732" y="520732"/>
                </a:lnTo>
                <a:lnTo>
                  <a:pt x="0" y="520732"/>
                </a:lnTo>
                <a:lnTo>
                  <a:pt x="0" y="0"/>
                </a:lnTo>
                <a:close/>
              </a:path>
            </a:pathLst>
          </a:custGeom>
          <a:blipFill rotWithShape="1">
            <a:blip r:embed="rId5">
              <a:alphaModFix/>
            </a:blip>
            <a:stretch>
              <a:fillRect b="0" l="0" r="0" t="0"/>
            </a:stretch>
          </a:blipFill>
          <a:ln>
            <a:noFill/>
          </a:ln>
        </p:spPr>
      </p:sp>
      <p:grpSp>
        <p:nvGrpSpPr>
          <p:cNvPr id="216" name="Google Shape;216;p13"/>
          <p:cNvGrpSpPr/>
          <p:nvPr/>
        </p:nvGrpSpPr>
        <p:grpSpPr>
          <a:xfrm>
            <a:off x="3304941" y="4115508"/>
            <a:ext cx="13529527" cy="5636392"/>
            <a:chOff x="0" y="0"/>
            <a:chExt cx="18039369" cy="7515189"/>
          </a:xfrm>
        </p:grpSpPr>
        <p:sp>
          <p:nvSpPr>
            <p:cNvPr id="217" name="Google Shape;217;p13"/>
            <p:cNvSpPr/>
            <p:nvPr/>
          </p:nvSpPr>
          <p:spPr>
            <a:xfrm>
              <a:off x="0" y="0"/>
              <a:ext cx="5180838" cy="4185539"/>
            </a:xfrm>
            <a:custGeom>
              <a:rect b="b" l="l" r="r" t="t"/>
              <a:pathLst>
                <a:path extrusionOk="0" h="4185539" w="5180838">
                  <a:moveTo>
                    <a:pt x="0" y="0"/>
                  </a:moveTo>
                  <a:lnTo>
                    <a:pt x="4450588" y="0"/>
                  </a:lnTo>
                  <a:cubicBezTo>
                    <a:pt x="4853940" y="0"/>
                    <a:pt x="5180838" y="326898"/>
                    <a:pt x="5180838" y="730250"/>
                  </a:cubicBezTo>
                  <a:lnTo>
                    <a:pt x="5180838" y="4185539"/>
                  </a:lnTo>
                  <a:lnTo>
                    <a:pt x="0" y="4185539"/>
                  </a:lnTo>
                  <a:close/>
                </a:path>
              </a:pathLst>
            </a:custGeom>
            <a:solidFill>
              <a:srgbClr val="012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txBox="1"/>
            <p:nvPr/>
          </p:nvSpPr>
          <p:spPr>
            <a:xfrm>
              <a:off x="776700" y="1243201"/>
              <a:ext cx="3627400" cy="1447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3600" u="none" cap="none" strike="noStrike">
                  <a:solidFill>
                    <a:srgbClr val="FFFFFF"/>
                  </a:solidFill>
                  <a:latin typeface="Arial"/>
                  <a:ea typeface="Arial"/>
                  <a:cs typeface="Arial"/>
                  <a:sym typeface="Arial"/>
                </a:rPr>
                <a:t>Systemic Issues</a:t>
              </a:r>
              <a:endParaRPr/>
            </a:p>
          </p:txBody>
        </p:sp>
        <p:sp>
          <p:nvSpPr>
            <p:cNvPr id="219" name="Google Shape;219;p13"/>
            <p:cNvSpPr/>
            <p:nvPr/>
          </p:nvSpPr>
          <p:spPr>
            <a:xfrm>
              <a:off x="5201533" y="22632"/>
              <a:ext cx="5180838" cy="4185539"/>
            </a:xfrm>
            <a:custGeom>
              <a:rect b="b" l="l" r="r" t="t"/>
              <a:pathLst>
                <a:path extrusionOk="0" h="4185539" w="5180838">
                  <a:moveTo>
                    <a:pt x="757555" y="0"/>
                  </a:moveTo>
                  <a:lnTo>
                    <a:pt x="4423283" y="0"/>
                  </a:lnTo>
                  <a:cubicBezTo>
                    <a:pt x="4841621" y="0"/>
                    <a:pt x="5180838" y="339090"/>
                    <a:pt x="5180838" y="757555"/>
                  </a:cubicBezTo>
                  <a:lnTo>
                    <a:pt x="5180838" y="4185539"/>
                  </a:lnTo>
                  <a:lnTo>
                    <a:pt x="0" y="4185539"/>
                  </a:lnTo>
                  <a:lnTo>
                    <a:pt x="0" y="757555"/>
                  </a:lnTo>
                  <a:cubicBezTo>
                    <a:pt x="0" y="339090"/>
                    <a:pt x="339090" y="0"/>
                    <a:pt x="757555" y="0"/>
                  </a:cubicBezTo>
                  <a:close/>
                </a:path>
              </a:pathLst>
            </a:custGeom>
            <a:solidFill>
              <a:srgbClr val="012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txBox="1"/>
            <p:nvPr/>
          </p:nvSpPr>
          <p:spPr>
            <a:xfrm>
              <a:off x="5971721" y="1075219"/>
              <a:ext cx="3627400" cy="2462022"/>
            </a:xfrm>
            <a:prstGeom prst="rect">
              <a:avLst/>
            </a:prstGeom>
            <a:noFill/>
            <a:ln>
              <a:noFill/>
            </a:ln>
          </p:spPr>
          <p:txBody>
            <a:bodyPr anchorCtr="0" anchor="t" bIns="0" lIns="0" spcFirstLastPara="1" rIns="0" wrap="square" tIns="0">
              <a:spAutoFit/>
            </a:bodyPr>
            <a:lstStyle/>
            <a:p>
              <a:pPr indent="0" lvl="0" marL="0" marR="0" rtl="0" algn="ctr">
                <a:lnSpc>
                  <a:spcPct val="137972"/>
                </a:lnSpc>
                <a:spcBef>
                  <a:spcPts val="0"/>
                </a:spcBef>
                <a:spcAft>
                  <a:spcPts val="0"/>
                </a:spcAft>
                <a:buNone/>
              </a:pPr>
              <a:r>
                <a:rPr b="0" i="0" lang="en-US" sz="3600" u="none" cap="none" strike="noStrike">
                  <a:solidFill>
                    <a:srgbClr val="FFFFFF"/>
                  </a:solidFill>
                  <a:latin typeface="Arial"/>
                  <a:ea typeface="Arial"/>
                  <a:cs typeface="Arial"/>
                  <a:sym typeface="Arial"/>
                </a:rPr>
                <a:t>Parental Educational &amp; Finance</a:t>
              </a:r>
              <a:endParaRPr/>
            </a:p>
          </p:txBody>
        </p:sp>
        <p:sp>
          <p:nvSpPr>
            <p:cNvPr id="221" name="Google Shape;221;p13"/>
            <p:cNvSpPr/>
            <p:nvPr/>
          </p:nvSpPr>
          <p:spPr>
            <a:xfrm>
              <a:off x="10390024" y="45203"/>
              <a:ext cx="5180838" cy="4140454"/>
            </a:xfrm>
            <a:custGeom>
              <a:rect b="b" l="l" r="r" t="t"/>
              <a:pathLst>
                <a:path extrusionOk="0" h="4140454" w="5180838">
                  <a:moveTo>
                    <a:pt x="5180838" y="0"/>
                  </a:moveTo>
                  <a:lnTo>
                    <a:pt x="722376" y="0"/>
                  </a:lnTo>
                  <a:cubicBezTo>
                    <a:pt x="323342" y="0"/>
                    <a:pt x="0" y="323342"/>
                    <a:pt x="0" y="722376"/>
                  </a:cubicBezTo>
                  <a:lnTo>
                    <a:pt x="0" y="4140454"/>
                  </a:lnTo>
                  <a:lnTo>
                    <a:pt x="5180838" y="4140454"/>
                  </a:lnTo>
                  <a:close/>
                </a:path>
              </a:pathLst>
            </a:custGeom>
            <a:solidFill>
              <a:srgbClr val="012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3"/>
            <p:cNvSpPr txBox="1"/>
            <p:nvPr/>
          </p:nvSpPr>
          <p:spPr>
            <a:xfrm>
              <a:off x="11227879" y="1274547"/>
              <a:ext cx="3627400" cy="1447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3600" u="none" cap="none" strike="noStrike">
                  <a:solidFill>
                    <a:srgbClr val="FFFFFF"/>
                  </a:solidFill>
                  <a:latin typeface="Arial"/>
                  <a:ea typeface="Arial"/>
                  <a:cs typeface="Arial"/>
                  <a:sym typeface="Arial"/>
                </a:rPr>
                <a:t>High School Prep</a:t>
              </a:r>
              <a:endParaRPr/>
            </a:p>
          </p:txBody>
        </p:sp>
        <p:sp>
          <p:nvSpPr>
            <p:cNvPr id="223" name="Google Shape;223;p13"/>
            <p:cNvSpPr/>
            <p:nvPr/>
          </p:nvSpPr>
          <p:spPr>
            <a:xfrm>
              <a:off x="28745" y="4185589"/>
              <a:ext cx="18010624" cy="3329600"/>
            </a:xfrm>
            <a:custGeom>
              <a:rect b="b" l="l" r="r" t="t"/>
              <a:pathLst>
                <a:path extrusionOk="0" h="3329600" w="15526400">
                  <a:moveTo>
                    <a:pt x="0" y="0"/>
                  </a:moveTo>
                  <a:lnTo>
                    <a:pt x="15526400" y="0"/>
                  </a:lnTo>
                  <a:lnTo>
                    <a:pt x="15526400" y="3329600"/>
                  </a:lnTo>
                  <a:lnTo>
                    <a:pt x="0" y="3329600"/>
                  </a:lnTo>
                  <a:lnTo>
                    <a:pt x="0" y="0"/>
                  </a:lnTo>
                  <a:close/>
                </a:path>
              </a:pathLst>
            </a:custGeom>
            <a:blipFill rotWithShape="1">
              <a:blip r:embed="rId6">
                <a:alphaModFix/>
              </a:blip>
              <a:stretch>
                <a:fillRect b="0" l="0" r="0" t="0"/>
              </a:stretch>
            </a:blipFill>
            <a:ln>
              <a:noFill/>
            </a:ln>
          </p:spPr>
        </p:sp>
        <p:sp>
          <p:nvSpPr>
            <p:cNvPr id="224" name="Google Shape;224;p13"/>
            <p:cNvSpPr txBox="1"/>
            <p:nvPr/>
          </p:nvSpPr>
          <p:spPr>
            <a:xfrm>
              <a:off x="559433" y="5160999"/>
              <a:ext cx="14465000"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420" u="none" cap="none" strike="noStrike">
                  <a:solidFill>
                    <a:srgbClr val="FFFFFF"/>
                  </a:solidFill>
                  <a:latin typeface="Arial"/>
                  <a:ea typeface="Arial"/>
                  <a:cs typeface="Arial"/>
                  <a:sym typeface="Arial"/>
                </a:rPr>
                <a:t>Factors affecting Black Student College Enrollment:</a:t>
              </a:r>
              <a:endParaRPr/>
            </a:p>
          </p:txBody>
        </p:sp>
      </p:grpSp>
      <p:sp>
        <p:nvSpPr>
          <p:cNvPr id="225" name="Google Shape;225;p13"/>
          <p:cNvSpPr txBox="1"/>
          <p:nvPr/>
        </p:nvSpPr>
        <p:spPr>
          <a:xfrm>
            <a:off x="1028700" y="1982254"/>
            <a:ext cx="16230600" cy="1793700"/>
          </a:xfrm>
          <a:prstGeom prst="rect">
            <a:avLst/>
          </a:prstGeom>
          <a:noFill/>
          <a:ln>
            <a:noFill/>
          </a:ln>
        </p:spPr>
        <p:txBody>
          <a:bodyPr anchorCtr="0" anchor="t" bIns="0" lIns="0" spcFirstLastPara="1" rIns="0" wrap="square" tIns="0">
            <a:spAutoFit/>
          </a:bodyPr>
          <a:lstStyle/>
          <a:p>
            <a:pPr indent="0" lvl="0" marL="0" marR="0" rtl="0" algn="ctr">
              <a:lnSpc>
                <a:spcPct val="138012"/>
              </a:lnSpc>
              <a:spcBef>
                <a:spcPts val="0"/>
              </a:spcBef>
              <a:spcAft>
                <a:spcPts val="0"/>
              </a:spcAft>
              <a:buNone/>
            </a:pPr>
            <a:r>
              <a:rPr b="0" i="0" lang="en-US" sz="3099" u="none" cap="none" strike="noStrike">
                <a:solidFill>
                  <a:srgbClr val="000000"/>
                </a:solidFill>
                <a:latin typeface="Arial"/>
                <a:ea typeface="Arial"/>
                <a:cs typeface="Arial"/>
                <a:sym typeface="Arial"/>
              </a:rPr>
              <a:t>The gap between white student and black student college enrollment is one that is multifaceted. This gap is seemingly caused by systemic issues, parental education attainment, financial issues, and a lack of high school support and preparation.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