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Slab"/>
      <p:regular r:id="rId17"/>
      <p:bold r:id="rId18"/>
    </p:embeddedFont>
    <p:embeddedFont>
      <p:font typeface="Roboto"/>
      <p:regular r:id="rId19"/>
      <p:bold r:id="rId20"/>
      <p:italic r:id="rId21"/>
      <p:boldItalic r:id="rId22"/>
    </p:embeddedFont>
    <p:embeddedFont>
      <p:font typeface="Merriweath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boldItalic.fntdata"/><Relationship Id="rId25" Type="http://schemas.openxmlformats.org/officeDocument/2006/relationships/font" Target="fonts/Merriweath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Slab-regular.fntdata"/><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font" Target="fonts/RobotoSlab-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839d86c0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e839d86c0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839d86c0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e839d86c0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e839d86c0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e839d86c0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839d86c0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839d86c0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e839d86c0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e839d86c0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e839d86c0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e839d86c0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839d86c0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839d86c0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e839d86c0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e839d86c0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839d86c0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e839d86c0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e8722918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e8722918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heritage.org/education/report/housing-redlining-and-its-lingering-effects-education-opportun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latin typeface="Merriweather"/>
                <a:ea typeface="Merriweather"/>
                <a:cs typeface="Merriweather"/>
                <a:sym typeface="Merriweather"/>
              </a:rPr>
              <a:t>Higher Education Retention</a:t>
            </a:r>
            <a:endParaRPr b="1">
              <a:latin typeface="Merriweather"/>
              <a:ea typeface="Merriweather"/>
              <a:cs typeface="Merriweather"/>
              <a:sym typeface="Merriweathe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679">
                <a:latin typeface="Merriweather"/>
                <a:ea typeface="Merriweather"/>
                <a:cs typeface="Merriweather"/>
                <a:sym typeface="Merriweather"/>
              </a:rPr>
              <a:t>By: Jimilia Harris, Lan Dinh, Takiyah Green, Lemuel Mutah, Jordan Hunt</a:t>
            </a:r>
            <a:endParaRPr sz="1679">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Overview</a:t>
            </a:r>
            <a:endParaRPr/>
          </a:p>
        </p:txBody>
      </p:sp>
      <p:sp>
        <p:nvSpPr>
          <p:cNvPr id="70" name="Google Shape;70;p14"/>
          <p:cNvSpPr txBox="1"/>
          <p:nvPr>
            <p:ph idx="1" type="body"/>
          </p:nvPr>
        </p:nvSpPr>
        <p:spPr>
          <a:xfrm>
            <a:off x="387900" y="1359325"/>
            <a:ext cx="8368200" cy="32667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Potholes on the Road to College: High School Effects in Shaping Urban Students’ Participation in College Applications, Four-Year College Enrollment, and College Match</a:t>
            </a:r>
            <a:endParaRPr/>
          </a:p>
          <a:p>
            <a:pPr indent="-342900" lvl="0" marL="457200" rtl="0" algn="l">
              <a:lnSpc>
                <a:spcPct val="150000"/>
              </a:lnSpc>
              <a:spcBef>
                <a:spcPts val="0"/>
              </a:spcBef>
              <a:spcAft>
                <a:spcPts val="0"/>
              </a:spcAft>
              <a:buSzPts val="1800"/>
              <a:buChar char="●"/>
            </a:pPr>
            <a:r>
              <a:rPr lang="en"/>
              <a:t>Authors: Melissa Roderick, Vanessa Coca, Jenny Nagaoke</a:t>
            </a:r>
            <a:endParaRPr/>
          </a:p>
          <a:p>
            <a:pPr indent="-342900" lvl="0" marL="457200" rtl="0" algn="l">
              <a:lnSpc>
                <a:spcPct val="150000"/>
              </a:lnSpc>
              <a:spcBef>
                <a:spcPts val="0"/>
              </a:spcBef>
              <a:spcAft>
                <a:spcPts val="0"/>
              </a:spcAft>
              <a:buSzPts val="1800"/>
              <a:buChar char="●"/>
            </a:pPr>
            <a:r>
              <a:rPr lang="en"/>
              <a:t>Institution: University of Chicago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Problem</a:t>
            </a:r>
            <a:endParaRPr/>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latin typeface="Merriweather"/>
                <a:ea typeface="Merriweather"/>
                <a:cs typeface="Merriweather"/>
                <a:sym typeface="Merriweather"/>
              </a:rPr>
              <a:t>W</a:t>
            </a:r>
            <a:r>
              <a:rPr lang="en">
                <a:latin typeface="Merriweather"/>
                <a:ea typeface="Merriweather"/>
                <a:cs typeface="Merriweather"/>
                <a:sym typeface="Merriweather"/>
              </a:rPr>
              <a:t>here reform needs to made in order to bridge the gap between urban high school graduates’ goal and execution of attending a 4-year college? </a:t>
            </a:r>
            <a:endParaRPr>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Assumption in Previous Work</a:t>
            </a:r>
            <a:endParaRPr/>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en" sz="2000"/>
              <a:t>College cost and credit constraints</a:t>
            </a:r>
            <a:endParaRPr sz="2000"/>
          </a:p>
          <a:p>
            <a:pPr indent="-330200" lvl="1" marL="914400" rtl="0" algn="l">
              <a:spcBef>
                <a:spcPts val="1200"/>
              </a:spcBef>
              <a:spcAft>
                <a:spcPts val="0"/>
              </a:spcAft>
              <a:buSzPts val="1600"/>
              <a:buAutoNum type="alphaLcPeriod"/>
            </a:pPr>
            <a:r>
              <a:rPr lang="en" sz="1600"/>
              <a:t>High college costs and limited borrowing options</a:t>
            </a:r>
            <a:endParaRPr sz="1600"/>
          </a:p>
          <a:p>
            <a:pPr indent="-330200" lvl="1" marL="914400" rtl="0" algn="l">
              <a:spcBef>
                <a:spcPts val="0"/>
              </a:spcBef>
              <a:spcAft>
                <a:spcPts val="0"/>
              </a:spcAft>
              <a:buSzPts val="1600"/>
              <a:buAutoNum type="alphaLcPeriod"/>
            </a:pPr>
            <a:r>
              <a:rPr lang="en" sz="1600"/>
              <a:t>Lack of attended high schools that properly guide students to college</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Insight</a:t>
            </a:r>
            <a:endParaRPr/>
          </a:p>
        </p:txBody>
      </p:sp>
      <p:sp>
        <p:nvSpPr>
          <p:cNvPr id="88" name="Google Shape;88;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Char char="●"/>
            </a:pPr>
            <a:r>
              <a:rPr lang="en" sz="2000"/>
              <a:t>Among the many factors that affect the enrollment of low income students into 4-year colleges, there is a correlation between the support given from high schools and the students’  successfulness in enrolling</a:t>
            </a:r>
            <a:endParaRPr sz="2000"/>
          </a:p>
          <a:p>
            <a:pPr indent="-355600" lvl="0" marL="457200" rtl="0" algn="l">
              <a:lnSpc>
                <a:spcPct val="150000"/>
              </a:lnSpc>
              <a:spcBef>
                <a:spcPts val="0"/>
              </a:spcBef>
              <a:spcAft>
                <a:spcPts val="0"/>
              </a:spcAft>
              <a:buSzPts val="2000"/>
              <a:buChar char="●"/>
            </a:pPr>
            <a:r>
              <a:rPr lang="en" sz="2000"/>
              <a:t>Prior research surrounding this topic has been done, which is used as a background and explanation to the purpose of this study.</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Merriweather"/>
                <a:ea typeface="Merriweather"/>
                <a:cs typeface="Merriweather"/>
                <a:sym typeface="Merriweather"/>
              </a:rPr>
              <a:t>Proof</a:t>
            </a:r>
            <a:endParaRPr>
              <a:latin typeface="Merriweather"/>
              <a:ea typeface="Merriweather"/>
              <a:cs typeface="Merriweather"/>
              <a:sym typeface="Merriweather"/>
            </a:endParaRPr>
          </a:p>
        </p:txBody>
      </p:sp>
      <p:sp>
        <p:nvSpPr>
          <p:cNvPr id="94" name="Google Shape;94;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0" lvl="0" marL="457200" rtl="0" algn="l">
              <a:spcBef>
                <a:spcPts val="0"/>
              </a:spcBef>
              <a:spcAft>
                <a:spcPts val="0"/>
              </a:spcAft>
              <a:buNone/>
            </a:pPr>
            <a:r>
              <a:rPr lang="en" sz="2300">
                <a:latin typeface="Merriweather"/>
                <a:ea typeface="Merriweather"/>
                <a:cs typeface="Merriweather"/>
                <a:sym typeface="Merriweather"/>
              </a:rPr>
              <a:t>Potholes on the Road to College utilizes 3 methods:</a:t>
            </a:r>
            <a:endParaRPr sz="2300">
              <a:latin typeface="Merriweather"/>
              <a:ea typeface="Merriweather"/>
              <a:cs typeface="Merriweather"/>
              <a:sym typeface="Merriweather"/>
            </a:endParaRPr>
          </a:p>
          <a:p>
            <a:pPr indent="-349250" lvl="1" marL="914400" rtl="0" algn="l">
              <a:spcBef>
                <a:spcPts val="1200"/>
              </a:spcBef>
              <a:spcAft>
                <a:spcPts val="0"/>
              </a:spcAft>
              <a:buSzPts val="1900"/>
              <a:buFont typeface="Merriweather"/>
              <a:buAutoNum type="alphaLcPeriod"/>
            </a:pPr>
            <a:r>
              <a:rPr lang="en" sz="1900">
                <a:latin typeface="Merriweather"/>
                <a:ea typeface="Merriweather"/>
                <a:cs typeface="Merriweather"/>
                <a:sym typeface="Merriweather"/>
              </a:rPr>
              <a:t>Broad </a:t>
            </a:r>
            <a:r>
              <a:rPr lang="en" sz="1900">
                <a:latin typeface="Merriweather"/>
                <a:ea typeface="Merriweather"/>
                <a:cs typeface="Merriweather"/>
                <a:sym typeface="Merriweather"/>
              </a:rPr>
              <a:t>proxy measure - students from the previous graduating class were used as a reference</a:t>
            </a:r>
            <a:endParaRPr sz="1900">
              <a:latin typeface="Merriweather"/>
              <a:ea typeface="Merriweather"/>
              <a:cs typeface="Merriweather"/>
              <a:sym typeface="Merriweather"/>
            </a:endParaRPr>
          </a:p>
          <a:p>
            <a:pPr indent="-349250" lvl="1" marL="914400" rtl="0" algn="l">
              <a:spcBef>
                <a:spcPts val="0"/>
              </a:spcBef>
              <a:spcAft>
                <a:spcPts val="0"/>
              </a:spcAft>
              <a:buSzPts val="1900"/>
              <a:buFont typeface="Merriweather"/>
              <a:buAutoNum type="alphaLcPeriod"/>
            </a:pPr>
            <a:r>
              <a:rPr lang="en" sz="1900">
                <a:latin typeface="Merriweather"/>
                <a:ea typeface="Merriweather"/>
                <a:cs typeface="Merriweather"/>
                <a:sym typeface="Merriweather"/>
              </a:rPr>
              <a:t>Indicators of engagement for college geared high school activities</a:t>
            </a:r>
            <a:endParaRPr sz="1900">
              <a:latin typeface="Merriweather"/>
              <a:ea typeface="Merriweather"/>
              <a:cs typeface="Merriweather"/>
              <a:sym typeface="Merriweather"/>
            </a:endParaRPr>
          </a:p>
          <a:p>
            <a:pPr indent="-349250" lvl="1" marL="914400" rtl="0" algn="l">
              <a:spcBef>
                <a:spcPts val="0"/>
              </a:spcBef>
              <a:spcAft>
                <a:spcPts val="0"/>
              </a:spcAft>
              <a:buSzPts val="1900"/>
              <a:buFont typeface="Merriweather"/>
              <a:buAutoNum type="alphaLcPeriod"/>
            </a:pPr>
            <a:r>
              <a:rPr lang="en" sz="1900">
                <a:latin typeface="Merriweather"/>
                <a:ea typeface="Merriweather"/>
                <a:cs typeface="Merriweather"/>
                <a:sym typeface="Merriweather"/>
              </a:rPr>
              <a:t>Measurement of college going climate </a:t>
            </a:r>
            <a:endParaRPr sz="1900">
              <a:latin typeface="Merriweather"/>
              <a:ea typeface="Merriweather"/>
              <a:cs typeface="Merriweather"/>
              <a:sym typeface="Merriweather"/>
            </a:endParaRPr>
          </a:p>
          <a:p>
            <a:pPr indent="-349250" lvl="2" marL="1371600" rtl="0" algn="l">
              <a:spcBef>
                <a:spcPts val="0"/>
              </a:spcBef>
              <a:spcAft>
                <a:spcPts val="0"/>
              </a:spcAft>
              <a:buSzPts val="1900"/>
              <a:buFont typeface="Merriweather"/>
              <a:buAutoNum type="romanLcPeriod"/>
            </a:pPr>
            <a:r>
              <a:rPr lang="en" sz="1900">
                <a:latin typeface="Merriweather"/>
                <a:ea typeface="Merriweather"/>
                <a:cs typeface="Merriweather"/>
                <a:sym typeface="Merriweather"/>
              </a:rPr>
              <a:t>College-going climate - environment in which the teachers set high expectations and support for collegiate aspirations</a:t>
            </a:r>
            <a:endParaRPr sz="1900">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Visualization</a:t>
            </a:r>
            <a:endParaRPr/>
          </a:p>
        </p:txBody>
      </p:sp>
      <p:sp>
        <p:nvSpPr>
          <p:cNvPr id="100" name="Google Shape;100;p19"/>
          <p:cNvSpPr txBox="1"/>
          <p:nvPr>
            <p:ph idx="1" type="body"/>
          </p:nvPr>
        </p:nvSpPr>
        <p:spPr>
          <a:xfrm>
            <a:off x="387900" y="1594025"/>
            <a:ext cx="2808000" cy="2681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Merriweather"/>
              <a:buChar char="●"/>
            </a:pPr>
            <a:r>
              <a:rPr lang="en" sz="1800">
                <a:latin typeface="Merriweather"/>
                <a:ea typeface="Merriweather"/>
                <a:cs typeface="Merriweather"/>
                <a:sym typeface="Merriweather"/>
              </a:rPr>
              <a:t>The paper highlights the consistencies of the presence of college-going climate on students of varying external factors.</a:t>
            </a:r>
            <a:endParaRPr sz="1800">
              <a:latin typeface="Merriweather"/>
              <a:ea typeface="Merriweather"/>
              <a:cs typeface="Merriweather"/>
              <a:sym typeface="Merriweather"/>
            </a:endParaRPr>
          </a:p>
        </p:txBody>
      </p:sp>
      <p:pic>
        <p:nvPicPr>
          <p:cNvPr id="101" name="Google Shape;101;p19"/>
          <p:cNvPicPr preferRelativeResize="0"/>
          <p:nvPr/>
        </p:nvPicPr>
        <p:blipFill>
          <a:blip r:embed="rId3">
            <a:alphaModFix/>
          </a:blip>
          <a:stretch>
            <a:fillRect/>
          </a:stretch>
        </p:blipFill>
        <p:spPr>
          <a:xfrm>
            <a:off x="3348300" y="152400"/>
            <a:ext cx="5643300" cy="43536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Impact</a:t>
            </a:r>
            <a:endParaRPr/>
          </a:p>
        </p:txBody>
      </p:sp>
      <p:sp>
        <p:nvSpPr>
          <p:cNvPr id="107" name="Google Shape;107;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361950" lvl="0" marL="457200" rtl="0" algn="l">
              <a:lnSpc>
                <a:spcPct val="150000"/>
              </a:lnSpc>
              <a:spcBef>
                <a:spcPts val="0"/>
              </a:spcBef>
              <a:spcAft>
                <a:spcPts val="0"/>
              </a:spcAft>
              <a:buSzPts val="2100"/>
              <a:buFont typeface="Merriweather"/>
              <a:buChar char="●"/>
            </a:pPr>
            <a:r>
              <a:rPr lang="en" sz="2100">
                <a:latin typeface="Merriweather"/>
                <a:ea typeface="Merriweather"/>
                <a:cs typeface="Merriweather"/>
                <a:sym typeface="Merriweather"/>
              </a:rPr>
              <a:t>This paper encourages a shifts focus to the disparities that low-income students face in ways that have not been previously considered.</a:t>
            </a:r>
            <a:endParaRPr sz="2100">
              <a:latin typeface="Merriweather"/>
              <a:ea typeface="Merriweather"/>
              <a:cs typeface="Merriweather"/>
              <a:sym typeface="Merriweather"/>
            </a:endParaRPr>
          </a:p>
          <a:p>
            <a:pPr indent="-361950" lvl="0" marL="457200" rtl="0" algn="l">
              <a:lnSpc>
                <a:spcPct val="150000"/>
              </a:lnSpc>
              <a:spcBef>
                <a:spcPts val="0"/>
              </a:spcBef>
              <a:spcAft>
                <a:spcPts val="0"/>
              </a:spcAft>
              <a:buSzPts val="2100"/>
              <a:buFont typeface="Merriweather"/>
              <a:buChar char="●"/>
            </a:pPr>
            <a:r>
              <a:rPr lang="en" sz="2100">
                <a:latin typeface="Merriweather"/>
                <a:ea typeface="Merriweather"/>
                <a:cs typeface="Merriweather"/>
                <a:sym typeface="Merriweather"/>
              </a:rPr>
              <a:t>The thoughts surrounding the lack of enrollment in 4-year colleges by low-income students will no longer center finances, but will also further discussion on how to better aid the students.</a:t>
            </a:r>
            <a:endParaRPr sz="2100">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Equity Gaps African American Students</a:t>
            </a:r>
            <a:endParaRPr/>
          </a:p>
        </p:txBody>
      </p:sp>
      <p:sp>
        <p:nvSpPr>
          <p:cNvPr id="113" name="Google Shape;113;p21"/>
          <p:cNvSpPr txBox="1"/>
          <p:nvPr>
            <p:ph idx="1" type="body"/>
          </p:nvPr>
        </p:nvSpPr>
        <p:spPr>
          <a:xfrm>
            <a:off x="387900" y="1267574"/>
            <a:ext cx="8368200" cy="3078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770"/>
              <a:buNone/>
            </a:pPr>
            <a:r>
              <a:rPr lang="en" sz="1360">
                <a:latin typeface="Merriweather"/>
                <a:ea typeface="Merriweather"/>
                <a:cs typeface="Merriweather"/>
                <a:sym typeface="Merriweather"/>
              </a:rPr>
              <a:t>The Illinois Board of Higher Education's strategic plan, "A Thriving Illinois," outlines a vision for advancing the state's higher education system to foster an inclusive economy and broad prosperity. The plan is centered on main goals of equity, sustainability, and growth.</a:t>
            </a:r>
            <a:endParaRPr sz="1360">
              <a:latin typeface="Merriweather"/>
              <a:ea typeface="Merriweather"/>
              <a:cs typeface="Merriweather"/>
              <a:sym typeface="Merriweather"/>
            </a:endParaRPr>
          </a:p>
          <a:p>
            <a:pPr indent="0" lvl="0" marL="0" rtl="0" algn="l">
              <a:lnSpc>
                <a:spcPct val="115000"/>
              </a:lnSpc>
              <a:spcBef>
                <a:spcPts val="1200"/>
              </a:spcBef>
              <a:spcAft>
                <a:spcPts val="0"/>
              </a:spcAft>
              <a:buSzPts val="770"/>
              <a:buNone/>
            </a:pPr>
            <a:r>
              <a:rPr lang="en" sz="1360">
                <a:latin typeface="Merriweather"/>
                <a:ea typeface="Merriweather"/>
                <a:cs typeface="Merriweather"/>
                <a:sym typeface="Merriweather"/>
              </a:rPr>
              <a:t>Significant equity gaps that African American students in higher education face are highlighted in the report by the Illinois Board of Higher Education. Higher education must cater to students throughout their lives, including those needing to review or deepen understanding and address barriers to higher education, such as access to early college experiences, developmental education, retention, advancement, and career outcomes.</a:t>
            </a:r>
            <a:endParaRPr sz="1360">
              <a:latin typeface="Merriweather"/>
              <a:ea typeface="Merriweather"/>
              <a:cs typeface="Merriweather"/>
              <a:sym typeface="Merriweather"/>
            </a:endParaRPr>
          </a:p>
          <a:p>
            <a:pPr indent="0" lvl="0" marL="0" rtl="0" algn="l">
              <a:lnSpc>
                <a:spcPct val="115000"/>
              </a:lnSpc>
              <a:spcBef>
                <a:spcPts val="1200"/>
              </a:spcBef>
              <a:spcAft>
                <a:spcPts val="0"/>
              </a:spcAft>
              <a:buSzPts val="770"/>
              <a:buNone/>
            </a:pPr>
            <a:r>
              <a:rPr lang="en" sz="1360">
                <a:latin typeface="Merriweather"/>
                <a:ea typeface="Merriweather"/>
                <a:cs typeface="Merriweather"/>
                <a:sym typeface="Merriweather"/>
              </a:rPr>
              <a:t>They believe that the system must also attract and support working adults who have not yet completed their education. This includes recognizing their unique needs and experiences. They want more targeted support such as summer courses, proactive advising, and wrap-around services. Institutions are encouraged to develop specific equity plans, analyze disaggregated data to identify intervention points, and conduct equity impact analyses before making decisions. Increasing representation in staff is key as well.</a:t>
            </a:r>
            <a:endParaRPr sz="1360">
              <a:latin typeface="Merriweather"/>
              <a:ea typeface="Merriweather"/>
              <a:cs typeface="Merriweather"/>
              <a:sym typeface="Merriweather"/>
            </a:endParaRPr>
          </a:p>
          <a:p>
            <a:pPr indent="0" lvl="0" marL="0" rtl="0" algn="l">
              <a:lnSpc>
                <a:spcPct val="115000"/>
              </a:lnSpc>
              <a:spcBef>
                <a:spcPts val="1200"/>
              </a:spcBef>
              <a:spcAft>
                <a:spcPts val="1200"/>
              </a:spcAft>
              <a:buSzPts val="770"/>
              <a:buNone/>
            </a:pPr>
            <a:r>
              <a:t/>
            </a:r>
            <a:endParaRPr sz="1360">
              <a:latin typeface="Merriweather"/>
              <a:ea typeface="Merriweather"/>
              <a:cs typeface="Merriweather"/>
              <a:sym typeface="Merriweath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Bio Of Pedro A. Noguera</a:t>
            </a:r>
            <a:endParaRPr/>
          </a:p>
        </p:txBody>
      </p:sp>
      <p:sp>
        <p:nvSpPr>
          <p:cNvPr id="119" name="Google Shape;119;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latin typeface="Merriweather"/>
                <a:ea typeface="Merriweather"/>
                <a:cs typeface="Merriweather"/>
                <a:sym typeface="Merriweather"/>
              </a:rPr>
              <a:t>Pedro A. Noguera is the Distinguished Professor of Education at the Graduate School of Education and Information Studies and Faculty Director for the Center for the Transformation of Schools at UCLA. He is a sociologist whose scholarship and research focuses on the ways in which schools are influenced by social and economic conditions as well as by demographic trends in local, regional and global contexts. Some of his most prominent works are:</a:t>
            </a:r>
            <a:endParaRPr>
              <a:latin typeface="Merriweather"/>
              <a:ea typeface="Merriweather"/>
              <a:cs typeface="Merriweather"/>
              <a:sym typeface="Merriweather"/>
            </a:endParaRPr>
          </a:p>
          <a:p>
            <a:pPr indent="-334327" lvl="0" marL="457200" rtl="0" algn="l">
              <a:spcBef>
                <a:spcPts val="1200"/>
              </a:spcBef>
              <a:spcAft>
                <a:spcPts val="0"/>
              </a:spcAft>
              <a:buSzPct val="100000"/>
              <a:buFont typeface="Merriweather"/>
              <a:buChar char="-"/>
            </a:pPr>
            <a:r>
              <a:rPr lang="en">
                <a:latin typeface="Merriweather"/>
                <a:ea typeface="Merriweather"/>
                <a:cs typeface="Merriweather"/>
                <a:sym typeface="Merriweather"/>
              </a:rPr>
              <a:t>The achievement gap and the discipline gap: Two sides of the same coin?</a:t>
            </a:r>
            <a:endParaRPr>
              <a:latin typeface="Merriweather"/>
              <a:ea typeface="Merriweather"/>
              <a:cs typeface="Merriweather"/>
              <a:sym typeface="Merriweather"/>
            </a:endParaRPr>
          </a:p>
          <a:p>
            <a:pPr indent="-334327" lvl="0" marL="457200" rtl="0" algn="l">
              <a:spcBef>
                <a:spcPts val="0"/>
              </a:spcBef>
              <a:spcAft>
                <a:spcPts val="0"/>
              </a:spcAft>
              <a:buSzPct val="100000"/>
              <a:buFont typeface="Merriweather"/>
              <a:buChar char="-"/>
            </a:pPr>
            <a:r>
              <a:rPr lang="en">
                <a:latin typeface="Merriweather"/>
                <a:ea typeface="Merriweather"/>
                <a:cs typeface="Merriweather"/>
                <a:sym typeface="Merriweather"/>
              </a:rPr>
              <a:t>The trouble with Black boys: The role and influence of environmental and cultural factors on the academic performance of African American males</a:t>
            </a:r>
            <a:endParaRPr>
              <a:latin typeface="Merriweather"/>
              <a:ea typeface="Merriweather"/>
              <a:cs typeface="Merriweather"/>
              <a:sym typeface="Merriweather"/>
            </a:endParaRPr>
          </a:p>
          <a:p>
            <a:pPr indent="-334327" lvl="0" marL="457200" rtl="0" algn="l">
              <a:spcBef>
                <a:spcPts val="0"/>
              </a:spcBef>
              <a:spcAft>
                <a:spcPts val="0"/>
              </a:spcAft>
              <a:buSzPct val="100000"/>
              <a:buFont typeface="Merriweather"/>
              <a:buChar char="-"/>
            </a:pPr>
            <a:r>
              <a:rPr lang="en">
                <a:latin typeface="Merriweather"/>
                <a:ea typeface="Merriweather"/>
                <a:cs typeface="Merriweather"/>
                <a:sym typeface="Merriweather"/>
              </a:rPr>
              <a:t>The trouble with black boys:... And other reflections on race, equity, and the future of public education</a:t>
            </a:r>
            <a:endParaRPr>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Additional Reading</a:t>
            </a:r>
            <a:endParaRPr/>
          </a:p>
        </p:txBody>
      </p:sp>
      <p:sp>
        <p:nvSpPr>
          <p:cNvPr id="125" name="Google Shape;125;p23"/>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1090">
                <a:latin typeface="Merriweather"/>
                <a:ea typeface="Merriweather"/>
                <a:cs typeface="Merriweather"/>
                <a:sym typeface="Merriweather"/>
              </a:rPr>
              <a:t>Research Article: </a:t>
            </a:r>
            <a:endParaRPr sz="1090">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rPr lang="en" sz="1090">
                <a:latin typeface="Merriweather"/>
                <a:ea typeface="Merriweather"/>
                <a:cs typeface="Merriweather"/>
                <a:sym typeface="Merriweather"/>
              </a:rPr>
              <a:t>Laura Walter Perna (2000) Differences in the Decision to Attend College among African Americans, Hispanics, and Whites, The Journal of Higher Education, 71:2, 117-141, DOI: 10.1080/00221546.2000.11778831</a:t>
            </a:r>
            <a:endParaRPr sz="1090">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rPr lang="en" sz="1090">
                <a:latin typeface="Merriweather"/>
                <a:ea typeface="Merriweather"/>
                <a:cs typeface="Merriweather"/>
                <a:sym typeface="Merriweather"/>
              </a:rPr>
              <a:t>Article #1: </a:t>
            </a:r>
            <a:endParaRPr sz="1090">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rPr lang="en" sz="1090">
                <a:latin typeface="Merriweather"/>
                <a:ea typeface="Merriweather"/>
                <a:cs typeface="Merriweather"/>
                <a:sym typeface="Merriweather"/>
              </a:rPr>
              <a:t>Burke, Lindsey, and Jonathan Schwalbach. "Housing Redlining and Its Lingering Effects on Education Opportunity." The Heritage Foundation, 16 Dec. 2021,</a:t>
            </a:r>
            <a:r>
              <a:rPr lang="en" sz="1090" u="sng">
                <a:solidFill>
                  <a:schemeClr val="hlink"/>
                </a:solidFill>
                <a:latin typeface="Merriweather"/>
                <a:ea typeface="Merriweather"/>
                <a:cs typeface="Merriweather"/>
                <a:sym typeface="Merriweather"/>
                <a:hlinkClick r:id="rId3"/>
              </a:rPr>
              <a:t> www.heritage.org/education/report/housing-redlining-and-its-lingering-effects-education-opportunity</a:t>
            </a:r>
            <a:r>
              <a:rPr lang="en" sz="1090">
                <a:latin typeface="Merriweather"/>
                <a:ea typeface="Merriweather"/>
                <a:cs typeface="Merriweather"/>
                <a:sym typeface="Merriweather"/>
              </a:rPr>
              <a:t>. Accessed 26 June 2024</a:t>
            </a:r>
            <a:r>
              <a:rPr lang="en" sz="705">
                <a:solidFill>
                  <a:srgbClr val="000000"/>
                </a:solidFill>
                <a:latin typeface="Merriweather"/>
                <a:ea typeface="Merriweather"/>
                <a:cs typeface="Merriweather"/>
                <a:sym typeface="Merriweather"/>
              </a:rPr>
              <a:t>.</a:t>
            </a:r>
            <a:endParaRPr sz="705">
              <a:solidFill>
                <a:srgbClr val="000000"/>
              </a:solidFill>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rPr lang="en" sz="1090">
                <a:latin typeface="Merriweather"/>
                <a:ea typeface="Merriweather"/>
                <a:cs typeface="Merriweather"/>
                <a:sym typeface="Merriweather"/>
              </a:rPr>
              <a:t>Article #2:</a:t>
            </a:r>
            <a:endParaRPr sz="1090">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rPr lang="en" sz="1090">
                <a:latin typeface="Merriweather"/>
                <a:ea typeface="Merriweather"/>
                <a:cs typeface="Merriweather"/>
                <a:sym typeface="Merriweather"/>
              </a:rPr>
              <a:t>Smith, Ember, and Sarah Reber. “College Enrollment Gaps: How Academic Preparation Influences Opportunity.” Brookings, 23 Jan. 2023, www.brookings.edu/articles/college-enrollment-gaps-how-academic-preparation-influences-opportunity/#:~:text=High%20school%20students%20with%20high,status%2C%20gender%2C%20and%20race.</a:t>
            </a:r>
            <a:endParaRPr sz="1191">
              <a:solidFill>
                <a:srgbClr val="000000"/>
              </a:solidFill>
              <a:latin typeface="Merriweather"/>
              <a:ea typeface="Merriweather"/>
              <a:cs typeface="Merriweather"/>
              <a:sym typeface="Merriweather"/>
            </a:endParaRPr>
          </a:p>
          <a:p>
            <a:pPr indent="0" lvl="0" marL="0" rtl="0" algn="l">
              <a:lnSpc>
                <a:spcPct val="95000"/>
              </a:lnSpc>
              <a:spcBef>
                <a:spcPts val="1200"/>
              </a:spcBef>
              <a:spcAft>
                <a:spcPts val="0"/>
              </a:spcAft>
              <a:buSzPts val="605"/>
              <a:buNone/>
            </a:pPr>
            <a:r>
              <a:t/>
            </a:r>
            <a:endParaRPr sz="1090">
              <a:latin typeface="Merriweather"/>
              <a:ea typeface="Merriweather"/>
              <a:cs typeface="Merriweather"/>
              <a:sym typeface="Merriweather"/>
            </a:endParaRPr>
          </a:p>
          <a:p>
            <a:pPr indent="0" lvl="0" marL="0" rtl="0" algn="l">
              <a:lnSpc>
                <a:spcPct val="95000"/>
              </a:lnSpc>
              <a:spcBef>
                <a:spcPts val="1200"/>
              </a:spcBef>
              <a:spcAft>
                <a:spcPts val="1200"/>
              </a:spcAft>
              <a:buSzPts val="605"/>
              <a:buNone/>
            </a:pPr>
            <a:r>
              <a:t/>
            </a:r>
            <a:endParaRPr sz="1090">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